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f293fec6574e0f" /><Relationship Type="http://schemas.openxmlformats.org/officeDocument/2006/relationships/extended-properties" Target="/docProps/app.xml" Id="R9e00861a14214159" /><Relationship Type="http://schemas.openxmlformats.org/officeDocument/2006/relationships/officeDocument" Target="/ppt/presentation.xml" Id="R060039027e2349e4" /></Relationships>
</file>

<file path=ppt/presentation.xml><?xml version="1.0" encoding="utf-8"?>
<p:presentation xmlns:p="http://schemas.openxmlformats.org/presentationml/2006/main">
  <p:sldMasterIdLst>
    <p:sldMasterId xmlns:r="http://schemas.openxmlformats.org/officeDocument/2006/relationships" id="2147483648" r:id="R9732e8c36651470d"/>
  </p:sldMasterIdLst>
  <p:notesMasterIdLst>
    <p:notesMasterId xmlns:r="http://schemas.openxmlformats.org/officeDocument/2006/relationships" r:id="Rc7604a85abf24667"/>
  </p:notesMasterIdLst>
  <p:sldIdLst>
    <p:sldId xmlns:r="http://schemas.openxmlformats.org/officeDocument/2006/relationships" id="256" r:id="Rb427c6ade0b048e3"/>
    <p:sldId xmlns:r="http://schemas.openxmlformats.org/officeDocument/2006/relationships" id="257" r:id="Rf63f169aeb004b04"/>
    <p:sldId xmlns:r="http://schemas.openxmlformats.org/officeDocument/2006/relationships" id="258" r:id="Rb985812111aa446b"/>
    <p:sldId xmlns:r="http://schemas.openxmlformats.org/officeDocument/2006/relationships" id="259" r:id="R5f2333e104ea4cc0"/>
    <p:sldId xmlns:r="http://schemas.openxmlformats.org/officeDocument/2006/relationships" id="260" r:id="R4273979cb62645fc"/>
    <p:sldId xmlns:r="http://schemas.openxmlformats.org/officeDocument/2006/relationships" id="261" r:id="Rcd77dbd266f04261"/>
    <p:sldId xmlns:r="http://schemas.openxmlformats.org/officeDocument/2006/relationships" id="262" r:id="R1ca32943dd484e37"/>
    <p:sldId xmlns:r="http://schemas.openxmlformats.org/officeDocument/2006/relationships" id="263" r:id="Ra1b81f19f465481b"/>
    <p:sldId xmlns:r="http://schemas.openxmlformats.org/officeDocument/2006/relationships" id="264" r:id="R8710f7669c8d45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dc5e2eefa74207" /><Relationship Type="http://schemas.openxmlformats.org/officeDocument/2006/relationships/slideMaster" Target="/ppt/slideMasters/slideMaster1.xml" Id="R9732e8c36651470d" /><Relationship Type="http://schemas.openxmlformats.org/officeDocument/2006/relationships/notesMaster" Target="/ppt/notesMasters/notesMaster1.xml" Id="Rc7604a85abf24667" /><Relationship Type="http://schemas.openxmlformats.org/officeDocument/2006/relationships/presProps" Target="/ppt/presProps.xml" Id="Rfcb4c2a5f9684d47" /><Relationship Type="http://schemas.openxmlformats.org/officeDocument/2006/relationships/tableStyles" Target="/ppt/tableStyles.xml" Id="R528f0ba28ef74791" /><Relationship Type="http://schemas.openxmlformats.org/officeDocument/2006/relationships/slide" Target="/ppt/slides/slide1.xml" Id="Rb427c6ade0b048e3" /><Relationship Type="http://schemas.openxmlformats.org/officeDocument/2006/relationships/slide" Target="/ppt/slides/slide2.xml" Id="Rf63f169aeb004b04" /><Relationship Type="http://schemas.openxmlformats.org/officeDocument/2006/relationships/slide" Target="/ppt/slides/slide3.xml" Id="Rb985812111aa446b" /><Relationship Type="http://schemas.openxmlformats.org/officeDocument/2006/relationships/slide" Target="/ppt/slides/slide4.xml" Id="R5f2333e104ea4cc0" /><Relationship Type="http://schemas.openxmlformats.org/officeDocument/2006/relationships/slide" Target="/ppt/slides/slide5.xml" Id="R4273979cb62645fc" /><Relationship Type="http://schemas.openxmlformats.org/officeDocument/2006/relationships/slide" Target="/ppt/slides/slide6.xml" Id="Rcd77dbd266f04261" /><Relationship Type="http://schemas.openxmlformats.org/officeDocument/2006/relationships/slide" Target="/ppt/slides/slide7.xml" Id="R1ca32943dd484e37" /><Relationship Type="http://schemas.openxmlformats.org/officeDocument/2006/relationships/slide" Target="/ppt/slides/slide8.xml" Id="Ra1b81f19f465481b" /><Relationship Type="http://schemas.openxmlformats.org/officeDocument/2006/relationships/slide" Target="/ppt/slides/slide9.xml" Id="R8710f7669c8d45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4d8063b08b47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1532dd31474127" /><Relationship Type="http://schemas.openxmlformats.org/officeDocument/2006/relationships/notesMaster" Target="/ppt/notesMasters/notesMaster1.xml" Id="R43692c95938641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a2a563732c4e5e" /><Relationship Type="http://schemas.openxmlformats.org/officeDocument/2006/relationships/notesMaster" Target="/ppt/notesMasters/notesMaster1.xml" Id="Rdfd488dd33c648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bf9d3d5697480d" /><Relationship Type="http://schemas.openxmlformats.org/officeDocument/2006/relationships/notesMaster" Target="/ppt/notesMasters/notesMaster1.xml" Id="R7e81ac5c1b734c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863757d4e04a71" /><Relationship Type="http://schemas.openxmlformats.org/officeDocument/2006/relationships/notesMaster" Target="/ppt/notesMasters/notesMaster1.xml" Id="R0120cf3518824e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7606b16e48466a" /><Relationship Type="http://schemas.openxmlformats.org/officeDocument/2006/relationships/notesMaster" Target="/ppt/notesMasters/notesMaster1.xml" Id="R1e10bceccbd141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ff391f971044e6" /><Relationship Type="http://schemas.openxmlformats.org/officeDocument/2006/relationships/notesMaster" Target="/ppt/notesMasters/notesMaster1.xml" Id="R726eefd1fbdb48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0390f3f9e946a5" /><Relationship Type="http://schemas.openxmlformats.org/officeDocument/2006/relationships/notesMaster" Target="/ppt/notesMasters/notesMaster1.xml" Id="Rdbf35e5eaead41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cde09c12d24152" /><Relationship Type="http://schemas.openxmlformats.org/officeDocument/2006/relationships/notesMaster" Target="/ppt/notesMasters/notesMaster1.xml" Id="Rd433cb0eeeac4f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a8141497284923" /><Relationship Type="http://schemas.openxmlformats.org/officeDocument/2006/relationships/notesMaster" Target="/ppt/notesMasters/notesMaster1.xml" Id="Re5b250e659c446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TableTogether hackathon prototype. Cover is AI-generated concept artwork, not a photograph of hardware execution. The following slides show actual simulation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potential assistive and service robotics. Current proof of concept covers one existing plate and two simple proxy objects. Source: robotics/scene.py and learning/rollout.py in https://github.com/SoniaLong/table-together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robotics/learning/policy.py, rollout.py and README.md. A task-specific keyframe imitation policy with a strong demonstration-derived trajectory prior. No foundation VLA or arbitrary natural-language reasoning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learning/checkpoints/experiment.json and RESULTS.md. Improved run uses separate keyframe output heads, brightness augmentation 0.85–1.15 and joint observation noise of 0.001 rad. Adam 0.0002, 5,000 iterations, 288.08 s. Validation chooses iteration 4,200 by normalized action error. MAE is not task success.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learning/evaluations/ten-seed-final/summary.json and final-utensil-first/summary.json. Frozen SHA256 f2f60dde4d383f845b91e9033afe51a691ece023a1bf53a6e29452e53dbb6bc3. CPU OpenVINO. Seeds 600–609 were not used for training or selection. Both placements require &lt;30 mm error plus upright cup, undisturbed plate, correct first arm.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robotics/ROBUSTNESS.md and learning/evaluations/robustness-improved/summary.json. PyTorch, paired seeds 700–709, ten episodes per profile. Light RGB 0.55–1.0; table RGB 0.10–0.28. Mass 70–130% of 35 g; friction 0.7–1.3. Horizontal size 90–110%, fixed height. No test-based 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https://github.com/SoniaLong/table-together/blob/main/robotics/COMPATIBILITY.md; https://docs.openvino.ai/2026/about-openvino/release-notes-openvino/system-requirements.html; https://mujoco.readthedocs.io/en/stable/programming/index.html. Intel lists Core Ultra Series 1/2/3 for CPU support. Local query supports all 112 graph operations. FP16 refers to weight compression with FP32 CPU computation. Benchmark ran alongside other jobs and cannot substantiate target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recorded video: https://github.com/SoniaLong/table-together/blob/main/robotics/learning/evaluations/ten-seed-final/TableTogether-ten-seeds.mp4. Duration 157 seconds. Shows every seed, instruction, checkpoint prefix and final result, including failures. Playback about 2× simulation speed. All execution is local Series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limits and future work, not claims of implemented functionality. Public source: https://github.com/SoniaLong/table-together. The repository excludes the earlier unrelated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0cf22aee6d46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e1d5536247485d" /><Relationship Type="http://schemas.openxmlformats.org/officeDocument/2006/relationships/slideLayout" Target="/ppt/slideLayouts/slideLayout1.xml" Id="Rcc1b2da331f040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1b2da331f040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8c299a8651459d" /><Relationship Type="http://schemas.openxmlformats.org/officeDocument/2006/relationships/image" Target="/ppt/media/image.png" Id="Rba8900f1f0644b33" /><Relationship Type="http://schemas.openxmlformats.org/officeDocument/2006/relationships/notesSlide" Target="/ppt/notesSlides/notesSlide1.xml" Id="R4b69c6e21a0a40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ba3b3d6f16423d" /><Relationship Type="http://schemas.openxmlformats.org/officeDocument/2006/relationships/image" Target="/ppt/media/image2.png" Id="R55ea8cda5150495d" /><Relationship Type="http://schemas.openxmlformats.org/officeDocument/2006/relationships/notesSlide" Target="/ppt/notesSlides/notesSlide2.xml" Id="Rca5c75cb1ac042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571a85c39141d2" /><Relationship Type="http://schemas.openxmlformats.org/officeDocument/2006/relationships/notesSlide" Target="/ppt/notesSlides/notesSlide3.xml" Id="Rcf3beb65cbfb4d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456742d075e4929" /><Relationship Type="http://schemas.openxmlformats.org/officeDocument/2006/relationships/notesSlide" Target="/ppt/notesSlides/notesSlide4.xml" Id="R87975fd7dfff46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9a7e3398314b58" /><Relationship Type="http://schemas.openxmlformats.org/officeDocument/2006/relationships/notesSlide" Target="/ppt/notesSlides/notesSlide5.xml" Id="Rbc6576fcb0cf4e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7d1675d0394c93" /><Relationship Type="http://schemas.openxmlformats.org/officeDocument/2006/relationships/notesSlide" Target="/ppt/notesSlides/notesSlide6.xml" Id="R14282977ed424c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b14164c69f4e86" /><Relationship Type="http://schemas.openxmlformats.org/officeDocument/2006/relationships/notesSlide" Target="/ppt/notesSlides/notesSlide7.xml" Id="Rddcbd8e0b97842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04b7e0156348ed" /><Relationship Type="http://schemas.openxmlformats.org/officeDocument/2006/relationships/image" Target="/ppt/media/image3.png" Id="R67a3dcc132b24c61" /><Relationship Type="http://schemas.openxmlformats.org/officeDocument/2006/relationships/hyperlink" Target="https://github.com/SoniaLong/table-together/blob/main/robotics/learning/evaluations/ten-seed-final/TableTogether-ten-seeds.mp4" TargetMode="External" Id="R1800b2c090974f1f" /><Relationship Type="http://schemas.openxmlformats.org/officeDocument/2006/relationships/hyperlink" Target="https://github.com/SoniaLong/table-together" TargetMode="External" Id="R61a49bb62947425d" /><Relationship Type="http://schemas.openxmlformats.org/officeDocument/2006/relationships/notesSlide" Target="/ppt/notesSlides/notesSlide8.xml" Id="Rbae5af34d15543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68b154eeb024f9e" /><Relationship Type="http://schemas.openxmlformats.org/officeDocument/2006/relationships/hyperlink" Target="https://github.com/SoniaLong/table-together" TargetMode="External" Id="R7a2cec1484344e54" /><Relationship Type="http://schemas.openxmlformats.org/officeDocument/2006/relationships/notesSlide" Target="/ppt/notesSlides/notesSlide9.xml" Id="R92a1e74798924536" /></Relationships>
</file>

<file path=ppt/slides/slide1.xml><?xml version="1.0" encoding="utf-8"?>
<p:sld xmlns:p="http://schemas.openxmlformats.org/presentationml/2006/main">
  <p:cSld>
    <p:bg>
      <p:bgPr>
        <a:solidFill xmlns:a="http://schemas.openxmlformats.org/drawingml/2006/main">
          <a:srgbClr val="10171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a8900f1f0644b33"/>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867218307"/>
      </p:ext>
    </p:extLst>
  </p:cSld>
</p:sld>
</file>

<file path=ppt/slides/slide2.xml><?xml version="1.0" encoding="utf-8"?>
<p:sld xmlns:p="http://schemas.openxmlformats.org/presentationml/2006/main">
  <p:cSld>
    <p:bg>
      <p:bgPr>
        <a:solidFill xmlns:a="http://schemas.openxmlformats.org/drawingml/2006/main">
          <a:srgbClr val="1017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3EA30A-27F3-4027-878F-08C3DE5D9D4A}"/>
              </a:ext>
            </a:extLst>
          </p:cNvPr>
          <p:cNvSpPr>
            <a:spLocks xmlns:a="http://schemas.openxmlformats.org/drawingml/2006/main" noGrp="1"/>
          </p:cNvSpPr>
          <p:nvPr/>
        </p:nvSpPr>
        <p:spPr>
          <a:xfrm xmlns:a="http://schemas.openxmlformats.org/drawingml/2006/main">
            <a:off x="609600" y="428625"/>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6F8"/>
                </a:solidFill>
                <a:latin typeface="Arial"/>
                <a:ea typeface="Arial"/>
                <a:cs typeface="Arial"/>
              </a:defRPr>
            </a:pPr>
            <a:r>
              <a:rPr sz="3300" b="1">
                <a:solidFill>
                  <a:srgbClr val="F3F6F8"/>
                </a:solidFill>
                <a:latin typeface="Arial"/>
                <a:ea typeface="Arial"/>
                <a:cs typeface="Arial"/>
              </a:rPr>
              <a:t>A table-setting assistant in simulation</a:t>
            </a:r>
          </a:p>
        </p:txBody>
      </p:sp>
      <p:sp>
        <p:nvSpPr>
          <p:cNvPr id="2" name="">
            <a:extLst xmlns:a="http://schemas.openxmlformats.org/drawingml/2006/main">
              <a:ext uri="{FF2B5EF4-FFF2-40B4-BE49-F238E27FC236}">
                <a16:creationId xmlns:a16="http://schemas.microsoft.com/office/drawing/2014/main" id="{B51137AE-17FB-437E-A9A0-F28BB4A4EAD8}"/>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4C1CB"/>
                </a:solidFill>
                <a:latin typeface="Arial"/>
                <a:ea typeface="Arial"/>
                <a:cs typeface="Arial"/>
              </a:defRPr>
            </a:pPr>
            <a:r>
              <a:rPr sz="1350" b="0">
                <a:solidFill>
                  <a:srgbClr val="B4C1C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48CA5FD-8906-4133-86BF-CFAB57C336A3}"/>
              </a:ext>
            </a:extLst>
          </p:cNvPr>
          <p:cNvSpPr>
            <a:spLocks xmlns:a="http://schemas.openxmlformats.org/drawingml/2006/main" noGrp="1"/>
          </p:cNvSpPr>
          <p:nvPr/>
        </p:nvSpPr>
        <p:spPr>
          <a:xfrm xmlns:a="http://schemas.openxmlformats.org/drawingml/2006/main">
            <a:off x="609600" y="1581150"/>
            <a:ext cx="5143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D45D"/>
                </a:solidFill>
                <a:latin typeface="Arial"/>
                <a:ea typeface="Arial"/>
                <a:cs typeface="Arial"/>
              </a:defRPr>
            </a:pPr>
            <a:r>
              <a:rPr sz="2850" b="1">
                <a:solidFill>
                  <a:srgbClr val="FFD45D"/>
                </a:solidFill>
                <a:latin typeface="Arial"/>
                <a:ea typeface="Arial"/>
                <a:cs typeface="Arial"/>
              </a:rPr>
              <a:t>“Set the table.</a:t>
            </a:r>
          </a:p>
          <a:p xmlns:a="http://schemas.openxmlformats.org/drawingml/2006/main">
            <a:pPr>
              <a:defRPr sz="2850" b="1">
                <a:solidFill>
                  <a:srgbClr val="FFD45D"/>
                </a:solidFill>
                <a:latin typeface="Arial"/>
                <a:ea typeface="Arial"/>
                <a:cs typeface="Arial"/>
              </a:defRPr>
            </a:pPr>
            <a:r>
              <a:rPr sz="2850" b="1">
                <a:solidFill>
                  <a:srgbClr val="FFD45D"/>
                </a:solidFill>
                <a:latin typeface="Arial"/>
                <a:ea typeface="Arial"/>
                <a:cs typeface="Arial"/>
              </a:rPr>
              <a:t>Start with the cup.”</a:t>
            </a:r>
          </a:p>
        </p:txBody>
      </p:sp>
      <p:sp>
        <p:nvSpPr>
          <p:cNvPr id="4" name="">
            <a:extLst xmlns:a="http://schemas.openxmlformats.org/drawingml/2006/main">
              <a:ext uri="{FF2B5EF4-FFF2-40B4-BE49-F238E27FC236}">
                <a16:creationId xmlns:a16="http://schemas.microsoft.com/office/drawing/2014/main" id="{D3757EE7-8988-4ACB-868E-C06B488EE0B5}"/>
              </a:ext>
            </a:extLst>
          </p:cNvPr>
          <p:cNvSpPr>
            <a:spLocks xmlns:a="http://schemas.openxmlformats.org/drawingml/2006/main" noGrp="1"/>
          </p:cNvSpPr>
          <p:nvPr/>
        </p:nvSpPr>
        <p:spPr>
          <a:xfrm xmlns:a="http://schemas.openxmlformats.org/drawingml/2006/main">
            <a:off x="609600" y="32194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3F6F8"/>
                </a:solidFill>
                <a:latin typeface="Arial"/>
                <a:ea typeface="Arial"/>
                <a:cs typeface="Arial"/>
              </a:defRPr>
            </a:pPr>
            <a:r>
              <a:rPr sz="2175" b="0">
                <a:solidFill>
                  <a:srgbClr val="F3F6F8"/>
                </a:solidFill>
                <a:latin typeface="Arial"/>
                <a:ea typeface="Arial"/>
                <a:cs typeface="Arial"/>
              </a:rPr>
              <a:t>Two SO-101 arms place a cup and utensil beside an existing plate.</a:t>
            </a:r>
          </a:p>
        </p:txBody>
      </p:sp>
      <p:sp>
        <p:nvSpPr>
          <p:cNvPr id="5" name="">
            <a:extLst xmlns:a="http://schemas.openxmlformats.org/drawingml/2006/main">
              <a:ext uri="{FF2B5EF4-FFF2-40B4-BE49-F238E27FC236}">
                <a16:creationId xmlns:a16="http://schemas.microsoft.com/office/drawing/2014/main" id="{81DFFCEC-A674-492F-8B3D-89E24A539257}"/>
              </a:ext>
            </a:extLst>
          </p:cNvPr>
          <p:cNvSpPr>
            <a:spLocks xmlns:a="http://schemas.openxmlformats.org/drawingml/2006/main" noGrp="1"/>
          </p:cNvSpPr>
          <p:nvPr/>
        </p:nvSpPr>
        <p:spPr>
          <a:xfrm xmlns:a="http://schemas.openxmlformats.org/drawingml/2006/main">
            <a:off x="609600" y="4619625"/>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4C1CB"/>
                </a:solidFill>
                <a:latin typeface="Arial"/>
                <a:ea typeface="Arial"/>
                <a:cs typeface="Arial"/>
              </a:defRPr>
            </a:pPr>
            <a:r>
              <a:rPr sz="2025" b="0">
                <a:solidFill>
                  <a:srgbClr val="B4C1CB"/>
                </a:solidFill>
                <a:latin typeface="Arial"/>
                <a:ea typeface="Arial"/>
                <a:cs typeface="Arial"/>
              </a:rPr>
              <a:t>The user can request either order.</a:t>
            </a:r>
          </a:p>
          <a:p xmlns:a="http://schemas.openxmlformats.org/drawingml/2006/main">
            <a:pPr>
              <a:defRPr sz="2025" b="0">
                <a:solidFill>
                  <a:srgbClr val="B4C1CB"/>
                </a:solidFill>
                <a:latin typeface="Arial"/>
                <a:ea typeface="Arial"/>
                <a:cs typeface="Arial"/>
              </a:defRPr>
            </a:pPr>
            <a:r>
              <a:rPr sz="2025" b="0">
                <a:solidFill>
                  <a:srgbClr val="B4C1CB"/>
                </a:solidFill>
                <a:latin typeface="Arial"/>
                <a:ea typeface="Arial"/>
                <a:cs typeface="Arial"/>
              </a:rPr>
              <a:t>The app shows live frames and placement checks.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5ea8cda5150495d"/>
          <a:stretch xmlns:a="http://schemas.openxmlformats.org/drawingml/2006/main"/>
        </p:blipFill>
        <p:spPr>
          <a:xfrm xmlns:a="http://schemas.openxmlformats.org/drawingml/2006/main">
            <a:off x="5981700" y="1526381"/>
            <a:ext cx="5429250" cy="407193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68FD458-1B28-4D67-97DF-250987328F22}"/>
              </a:ext>
            </a:extLst>
          </p:cNvPr>
          <p:cNvSpPr>
            <a:spLocks xmlns:a="http://schemas.openxmlformats.org/drawingml/2006/main" noGrp="1"/>
          </p:cNvSpPr>
          <p:nvPr/>
        </p:nvSpPr>
        <p:spPr>
          <a:xfrm xmlns:a="http://schemas.openxmlformats.org/drawingml/2006/main">
            <a:off x="6238875" y="57531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4C1CB"/>
                </a:solidFill>
                <a:latin typeface="Arial"/>
                <a:ea typeface="Arial"/>
                <a:cs typeface="Arial"/>
              </a:defRPr>
            </a:pPr>
            <a:r>
              <a:rPr sz="1575" b="0">
                <a:solidFill>
                  <a:srgbClr val="B4C1CB"/>
                </a:solidFill>
                <a:latin typeface="Arial"/>
                <a:ea typeface="Arial"/>
                <a:cs typeface="Arial"/>
              </a:rPr>
              <a:t>Actual MuJoCo camera view</a:t>
            </a:r>
          </a:p>
        </p:txBody>
      </p:sp>
    </p:spTree>
    <p:extLst>
      <p:ext uri="{BB962C8B-B14F-4D97-AF65-F5344CB8AC3E}">
        <p14:creationId xmlns:p14="http://schemas.microsoft.com/office/powerpoint/2010/main" val="58683149"/>
      </p:ext>
    </p:extLst>
  </p:cSld>
</p:sld>
</file>

<file path=ppt/slides/slide3.xml><?xml version="1.0" encoding="utf-8"?>
<p:sld xmlns:p="http://schemas.openxmlformats.org/presentationml/2006/main">
  <p:cSld>
    <p:bg>
      <p:bgPr>
        <a:solidFill xmlns:a="http://schemas.openxmlformats.org/drawingml/2006/main">
          <a:srgbClr val="1017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9232F0-6D9E-469B-AE82-9DA9C0F59456}"/>
              </a:ext>
            </a:extLst>
          </p:cNvPr>
          <p:cNvSpPr>
            <a:spLocks xmlns:a="http://schemas.openxmlformats.org/drawingml/2006/main" noGrp="1"/>
          </p:cNvSpPr>
          <p:nvPr/>
        </p:nvSpPr>
        <p:spPr>
          <a:xfrm xmlns:a="http://schemas.openxmlformats.org/drawingml/2006/main">
            <a:off x="609600" y="428625"/>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6F8"/>
                </a:solidFill>
                <a:latin typeface="Arial"/>
                <a:ea typeface="Arial"/>
                <a:cs typeface="Arial"/>
              </a:defRPr>
            </a:pPr>
            <a:r>
              <a:rPr sz="3300" b="1">
                <a:solidFill>
                  <a:srgbClr val="F3F6F8"/>
                </a:solidFill>
                <a:latin typeface="Arial"/>
                <a:ea typeface="Arial"/>
                <a:cs typeface="Arial"/>
              </a:rPr>
              <a:t>The learned perception-to-action policy</a:t>
            </a:r>
          </a:p>
        </p:txBody>
      </p:sp>
      <p:sp>
        <p:nvSpPr>
          <p:cNvPr id="2" name="">
            <a:extLst xmlns:a="http://schemas.openxmlformats.org/drawingml/2006/main">
              <a:ext uri="{FF2B5EF4-FFF2-40B4-BE49-F238E27FC236}">
                <a16:creationId xmlns:a16="http://schemas.microsoft.com/office/drawing/2014/main" id="{77BD3D36-7637-4FB8-8F68-813752333101}"/>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4C1CB"/>
                </a:solidFill>
                <a:latin typeface="Arial"/>
                <a:ea typeface="Arial"/>
                <a:cs typeface="Arial"/>
              </a:defRPr>
            </a:pPr>
            <a:r>
              <a:rPr sz="1350" b="0">
                <a:solidFill>
                  <a:srgbClr val="B4C1C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4F9150D3-C162-4B40-BEF6-4579DE3716B5}"/>
              </a:ext>
            </a:extLst>
          </p:cNvPr>
          <p:cNvSpPr>
            <a:spLocks xmlns:a="http://schemas.openxmlformats.org/drawingml/2006/main" noGrp="1"/>
          </p:cNvSpPr>
          <p:nvPr/>
        </p:nvSpPr>
        <p:spPr>
          <a:xfrm xmlns:a="http://schemas.openxmlformats.org/drawingml/2006/main">
            <a:off x="609600" y="16287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75E0B8"/>
                </a:solidFill>
                <a:latin typeface="Arial"/>
                <a:ea typeface="Arial"/>
                <a:cs typeface="Arial"/>
              </a:defRPr>
            </a:pPr>
            <a:r>
              <a:rPr sz="1725" b="1">
                <a:solidFill>
                  <a:srgbClr val="75E0B8"/>
                </a:solidFill>
                <a:latin typeface="Arial"/>
                <a:ea typeface="Arial"/>
                <a:cs typeface="Arial"/>
              </a:rPr>
              <a:t>INPUTS</a:t>
            </a:r>
          </a:p>
        </p:txBody>
      </p:sp>
      <p:sp>
        <p:nvSpPr>
          <p:cNvPr id="4" name="">
            <a:extLst xmlns:a="http://schemas.openxmlformats.org/drawingml/2006/main">
              <a:ext uri="{FF2B5EF4-FFF2-40B4-BE49-F238E27FC236}">
                <a16:creationId xmlns:a16="http://schemas.microsoft.com/office/drawing/2014/main" id="{B9A68C8C-D29F-4154-88BE-9EF2AC621BF9}"/>
              </a:ext>
            </a:extLst>
          </p:cNvPr>
          <p:cNvSpPr>
            <a:spLocks xmlns:a="http://schemas.openxmlformats.org/drawingml/2006/main" noGrp="1"/>
          </p:cNvSpPr>
          <p:nvPr/>
        </p:nvSpPr>
        <p:spPr>
          <a:xfrm xmlns:a="http://schemas.openxmlformats.org/drawingml/2006/main">
            <a:off x="609600" y="2228850"/>
            <a:ext cx="5143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F6F8"/>
                </a:solidFill>
                <a:latin typeface="Arial"/>
                <a:ea typeface="Arial"/>
                <a:cs typeface="Arial"/>
              </a:defRPr>
            </a:pPr>
            <a:r>
              <a:rPr sz="2250" b="0">
                <a:solidFill>
                  <a:srgbClr val="F3F6F8"/>
                </a:solidFill>
                <a:latin typeface="Arial"/>
                <a:ea typeface="Arial"/>
                <a:cs typeface="Arial"/>
              </a:rPr>
              <a:t>128 × 96 overhead RGB</a:t>
            </a:r>
          </a:p>
          <a:p xmlns:a="http://schemas.openxmlformats.org/drawingml/2006/main">
            <a:pPr>
              <a:defRPr sz="2250" b="0">
                <a:solidFill>
                  <a:srgbClr val="F3F6F8"/>
                </a:solidFill>
                <a:latin typeface="Arial"/>
                <a:ea typeface="Arial"/>
                <a:cs typeface="Arial"/>
              </a:defRPr>
            </a:pPr>
            <a:r>
              <a:rPr sz="2250" b="0">
                <a:solidFill>
                  <a:srgbClr val="F3F6F8"/>
                </a:solidFill>
                <a:latin typeface="Arial"/>
                <a:ea typeface="Arial"/>
                <a:cs typeface="Arial"/>
              </a:rPr>
              <a:t>Ordered instruction tokens</a:t>
            </a:r>
          </a:p>
          <a:p xmlns:a="http://schemas.openxmlformats.org/drawingml/2006/main">
            <a:pPr>
              <a:defRPr sz="2250" b="0">
                <a:solidFill>
                  <a:srgbClr val="F3F6F8"/>
                </a:solidFill>
                <a:latin typeface="Arial"/>
                <a:ea typeface="Arial"/>
                <a:cs typeface="Arial"/>
              </a:defRPr>
            </a:pPr>
            <a:r>
              <a:rPr sz="2250" b="0">
                <a:solidFill>
                  <a:srgbClr val="F3F6F8"/>
                </a:solidFill>
                <a:latin typeface="Arial"/>
                <a:ea typeface="Arial"/>
                <a:cs typeface="Arial"/>
              </a:rPr>
              <a:t>Twelve measured joint positions</a:t>
            </a:r>
          </a:p>
          <a:p xmlns:a="http://schemas.openxmlformats.org/drawingml/2006/main">
            <a:pPr>
              <a:defRPr sz="2250" b="0">
                <a:solidFill>
                  <a:srgbClr val="F3F6F8"/>
                </a:solidFill>
                <a:latin typeface="Arial"/>
                <a:ea typeface="Arial"/>
                <a:cs typeface="Arial"/>
              </a:defRPr>
            </a:pPr>
            <a:r>
              <a:rPr sz="2250" b="0">
                <a:solidFill>
                  <a:srgbClr val="F3F6F8"/>
                </a:solidFill>
                <a:latin typeface="Arial"/>
                <a:ea typeface="Arial"/>
                <a:cs typeface="Arial"/>
              </a:rPr>
              <a:t>Current action index</a:t>
            </a:r>
          </a:p>
        </p:txBody>
      </p:sp>
      <p:sp>
        <p:nvSpPr>
          <p:cNvPr id="5" name="">
            <a:extLst xmlns:a="http://schemas.openxmlformats.org/drawingml/2006/main">
              <a:ext uri="{FF2B5EF4-FFF2-40B4-BE49-F238E27FC236}">
                <a16:creationId xmlns:a16="http://schemas.microsoft.com/office/drawing/2014/main" id="{5A5A29FC-4ECF-4CA7-9A07-0C6945D2ECFC}"/>
              </a:ext>
            </a:extLst>
          </p:cNvPr>
          <p:cNvSpPr>
            <a:spLocks xmlns:a="http://schemas.openxmlformats.org/drawingml/2006/main" noGrp="1"/>
          </p:cNvSpPr>
          <p:nvPr/>
        </p:nvSpPr>
        <p:spPr>
          <a:xfrm xmlns:a="http://schemas.openxmlformats.org/drawingml/2006/main">
            <a:off x="6553200" y="16287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75E0B8"/>
                </a:solidFill>
                <a:latin typeface="Arial"/>
                <a:ea typeface="Arial"/>
                <a:cs typeface="Arial"/>
              </a:defRPr>
            </a:pPr>
            <a:r>
              <a:rPr sz="1725" b="1">
                <a:solidFill>
                  <a:srgbClr val="75E0B8"/>
                </a:solidFill>
                <a:latin typeface="Arial"/>
                <a:ea typeface="Arial"/>
                <a:cs typeface="Arial"/>
              </a:rPr>
              <a:t>LEARNED OUTPUT</a:t>
            </a:r>
          </a:p>
        </p:txBody>
      </p:sp>
      <p:sp>
        <p:nvSpPr>
          <p:cNvPr id="6" name="">
            <a:extLst xmlns:a="http://schemas.openxmlformats.org/drawingml/2006/main">
              <a:ext uri="{FF2B5EF4-FFF2-40B4-BE49-F238E27FC236}">
                <a16:creationId xmlns:a16="http://schemas.microsoft.com/office/drawing/2014/main" id="{127DACFF-2E0A-434B-A2FA-99AA7B6CF675}"/>
              </a:ext>
            </a:extLst>
          </p:cNvPr>
          <p:cNvSpPr>
            <a:spLocks xmlns:a="http://schemas.openxmlformats.org/drawingml/2006/main" noGrp="1"/>
          </p:cNvSpPr>
          <p:nvPr/>
        </p:nvSpPr>
        <p:spPr>
          <a:xfrm xmlns:a="http://schemas.openxmlformats.org/drawingml/2006/main">
            <a:off x="6553200" y="2228850"/>
            <a:ext cx="4857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3F6F8"/>
                </a:solidFill>
                <a:latin typeface="Arial"/>
                <a:ea typeface="Arial"/>
                <a:cs typeface="Arial"/>
              </a:defRPr>
            </a:pPr>
            <a:r>
              <a:rPr sz="2325" b="0">
                <a:solidFill>
                  <a:srgbClr val="F3F6F8"/>
                </a:solidFill>
                <a:latin typeface="Arial"/>
                <a:ea typeface="Arial"/>
                <a:cs typeface="Arial"/>
              </a:rPr>
              <a:t>CNN and language encoder predict joint targets and durations over 18 keyframes.</a:t>
            </a:r>
          </a:p>
        </p:txBody>
      </p:sp>
      <p:sp>
        <p:nvSpPr>
          <p:cNvPr id="7" name="">
            <a:extLst xmlns:a="http://schemas.openxmlformats.org/drawingml/2006/main">
              <a:ext uri="{FF2B5EF4-FFF2-40B4-BE49-F238E27FC236}">
                <a16:creationId xmlns:a16="http://schemas.microsoft.com/office/drawing/2014/main" id="{6095F061-15B0-4444-A07A-37C52B4982AE}"/>
              </a:ext>
            </a:extLst>
          </p:cNvPr>
          <p:cNvSpPr>
            <a:spLocks xmlns:a="http://schemas.openxmlformats.org/drawingml/2006/main" noGrp="1"/>
          </p:cNvSpPr>
          <p:nvPr/>
        </p:nvSpPr>
        <p:spPr>
          <a:xfrm xmlns:a="http://schemas.openxmlformats.org/drawingml/2006/main">
            <a:off x="6553200" y="4191000"/>
            <a:ext cx="4857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3F6F8"/>
                </a:solidFill>
                <a:latin typeface="Arial"/>
                <a:ea typeface="Arial"/>
                <a:cs typeface="Arial"/>
              </a:defRPr>
            </a:pPr>
            <a:r>
              <a:rPr sz="2100" b="0">
                <a:solidFill>
                  <a:srgbClr val="F3F6F8"/>
                </a:solidFill>
                <a:latin typeface="Arial"/>
                <a:ea typeface="Arial"/>
                <a:cs typeface="Arial"/>
              </a:rPr>
              <a:t>MuJoCo actuators execute the targets through physical contacts.</a:t>
            </a:r>
          </a:p>
        </p:txBody>
      </p:sp>
      <p:sp>
        <p:nvSpPr>
          <p:cNvPr id="8" name="">
            <a:extLst xmlns:a="http://schemas.openxmlformats.org/drawingml/2006/main">
              <a:ext uri="{FF2B5EF4-FFF2-40B4-BE49-F238E27FC236}">
                <a16:creationId xmlns:a16="http://schemas.microsoft.com/office/drawing/2014/main" id="{C0F15A77-7A77-4590-9E22-A56596AE215B}"/>
              </a:ext>
            </a:extLst>
          </p:cNvPr>
          <p:cNvSpPr>
            <a:spLocks xmlns:a="http://schemas.openxmlformats.org/drawingml/2006/main" noGrp="1"/>
          </p:cNvSpPr>
          <p:nvPr/>
        </p:nvSpPr>
        <p:spPr>
          <a:xfrm xmlns:a="http://schemas.openxmlformats.org/drawingml/2006/main">
            <a:off x="609600" y="57245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D45D"/>
                </a:solidFill>
                <a:latin typeface="Arial"/>
                <a:ea typeface="Arial"/>
                <a:cs typeface="Arial"/>
              </a:defRPr>
            </a:pPr>
            <a:r>
              <a:rPr sz="1875" b="0">
                <a:solidFill>
                  <a:srgbClr val="FFD45D"/>
                </a:solidFill>
                <a:latin typeface="Arial"/>
                <a:ea typeface="Arial"/>
                <a:cs typeface="Arial"/>
              </a:rPr>
              <a:t>Sequential complementary arm actions. No expert fallback during learned execution.</a:t>
            </a:r>
          </a:p>
        </p:txBody>
      </p:sp>
    </p:spTree>
    <p:extLst>
      <p:ext uri="{BB962C8B-B14F-4D97-AF65-F5344CB8AC3E}">
        <p14:creationId xmlns:p14="http://schemas.microsoft.com/office/powerpoint/2010/main" val="1554283872"/>
      </p:ext>
    </p:extLst>
  </p:cSld>
</p:sld>
</file>

<file path=ppt/slides/slide4.xml><?xml version="1.0" encoding="utf-8"?>
<p:sld xmlns:p="http://schemas.openxmlformats.org/presentationml/2006/main">
  <p:cSld>
    <p:bg>
      <p:bgPr>
        <a:solidFill xmlns:a="http://schemas.openxmlformats.org/drawingml/2006/main">
          <a:srgbClr val="10171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1FAAA6-13D6-4166-B33F-452148E545AE}"/>
              </a:ext>
            </a:extLst>
          </p:cNvPr>
          <p:cNvSpPr>
            <a:spLocks xmlns:a="http://schemas.openxmlformats.org/drawingml/2006/main" noGrp="1"/>
          </p:cNvSpPr>
          <p:nvPr/>
        </p:nvSpPr>
        <p:spPr>
          <a:xfrm xmlns:a="http://schemas.openxmlformats.org/drawingml/2006/main">
            <a:off x="609600" y="428625"/>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6F8"/>
                </a:solidFill>
                <a:latin typeface="Arial"/>
                <a:ea typeface="Arial"/>
                <a:cs typeface="Arial"/>
              </a:defRPr>
            </a:pPr>
            <a:r>
              <a:rPr sz="3300" b="1">
                <a:solidFill>
                  <a:srgbClr val="F3F6F8"/>
                </a:solidFill>
                <a:latin typeface="Arial"/>
                <a:ea typeface="Arial"/>
                <a:cs typeface="Arial"/>
              </a:rPr>
              <a:t>Training improved validation accuracy</a:t>
            </a:r>
          </a:p>
        </p:txBody>
      </p:sp>
      <p:sp>
        <p:nvSpPr>
          <p:cNvPr id="2" name="">
            <a:extLst xmlns:a="http://schemas.openxmlformats.org/drawingml/2006/main">
              <a:ext uri="{FF2B5EF4-FFF2-40B4-BE49-F238E27FC236}">
                <a16:creationId xmlns:a16="http://schemas.microsoft.com/office/drawing/2014/main" id="{8D104210-4A81-4EBA-9E1C-BC04AA182122}"/>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4C1CB"/>
                </a:solidFill>
                <a:latin typeface="Arial"/>
                <a:ea typeface="Arial"/>
                <a:cs typeface="Arial"/>
              </a:defRPr>
            </a:pPr>
            <a:r>
              <a:rPr sz="1350" b="0">
                <a:solidFill>
                  <a:srgbClr val="B4C1CB"/>
                </a:solidFill>
                <a:latin typeface="Arial"/>
                <a:ea typeface="Arial"/>
                <a:cs typeface="Arial"/>
              </a:rPr>
              <a:t>04</a:t>
            </a:r>
          </a:p>
        </p:txBody>
      </p:sp>
      <p:graphicFrame>
        <p:nvGraphicFramePr>
          <p:cNvPr id="8" name=""/>
          <p:cNvGraphicFramePr/>
          <p:nvPr/>
        </p:nvGraphicFramePr>
        <p:xfrm>
          <a:off xmlns:a="http://schemas.openxmlformats.org/drawingml/2006/main" x="609600" y="1628775"/>
          <a:ext xmlns:a="http://schemas.openxmlformats.org/drawingml/2006/main" cx="10953750" cy="2952750"/>
        </p:xfrm>
        <a:graphic xmlns:a="http://schemas.openxmlformats.org/drawingml/2006/main">
          <a:graphicData uri="http://schemas.openxmlformats.org/drawingml/2006/table">
            <a:tbl>
              <a:tblPr/>
              <a:tblGrid>
                <a:gridCol w="5905500"/>
                <a:gridCol w="2524125"/>
                <a:gridCol w="2524125"/>
              </a:tblGrid>
              <a:tr h="590550">
                <a:tc>
                  <a:txBody>
                    <a:bodyPr/>
                    <a:lstStyle/>
                    <a:p>
                      <a:r>
                        <a:rPr sz="1800" b="1">
                          <a:solidFill>
                            <a:srgbClr val="FFD45D"/>
                          </a:solidFill>
                          <a:latin typeface="Arial"/>
                          <a:ea typeface="Arial"/>
                          <a:cs typeface="Arial"/>
                        </a:rPr>
                        <a:t>Measure</a:t>
                      </a:r>
                    </a:p>
                  </a:txBody>
                  <a:tcPr marL="91440" marR="91440" marT="45720" marB="45720">
                    <a:solidFill>
                      <a:srgbClr val="25343F"/>
                    </a:solidFill>
                  </a:tcPr>
                </a:tc>
                <a:tc>
                  <a:txBody>
                    <a:bodyPr/>
                    <a:lstStyle/>
                    <a:p>
                      <a:r>
                        <a:rPr sz="1800" b="1">
                          <a:solidFill>
                            <a:srgbClr val="FFD45D"/>
                          </a:solidFill>
                          <a:latin typeface="Arial"/>
                          <a:ea typeface="Arial"/>
                          <a:cs typeface="Arial"/>
                        </a:rPr>
                        <a:t>Original</a:t>
                      </a:r>
                    </a:p>
                  </a:txBody>
                  <a:tcPr marL="91440" marR="91440" marT="45720" marB="45720">
                    <a:solidFill>
                      <a:srgbClr val="25343F"/>
                    </a:solidFill>
                  </a:tcPr>
                </a:tc>
                <a:tc>
                  <a:txBody>
                    <a:bodyPr/>
                    <a:lstStyle/>
                    <a:p>
                      <a:r>
                        <a:rPr sz="1800" b="1">
                          <a:solidFill>
                            <a:srgbClr val="FFD45D"/>
                          </a:solidFill>
                          <a:latin typeface="Arial"/>
                          <a:ea typeface="Arial"/>
                          <a:cs typeface="Arial"/>
                        </a:rPr>
                        <a:t>Revised</a:t>
                      </a:r>
                    </a:p>
                  </a:txBody>
                  <a:tcPr marL="91440" marR="91440" marT="45720" marB="45720">
                    <a:solidFill>
                      <a:srgbClr val="25343F"/>
                    </a:solidFill>
                  </a:tcPr>
                </a:tc>
              </a:tr>
              <a:tr h="590550">
                <a:tc>
                  <a:txBody>
                    <a:bodyPr/>
                    <a:lstStyle/>
                    <a:p>
                      <a:r>
                        <a:rPr sz="1800" b="0">
                          <a:solidFill>
                            <a:srgbClr val="F3F6F8"/>
                          </a:solidFill>
                          <a:latin typeface="Arial"/>
                          <a:ea typeface="Arial"/>
                          <a:cs typeface="Arial"/>
                        </a:rPr>
                        <a:t>Successful demonstrations</a:t>
                      </a:r>
                    </a:p>
                  </a:txBody>
                  <a:tcPr marL="91440" marR="91440" marT="45720" marB="45720">
                    <a:solidFill>
                      <a:srgbClr val="10171C"/>
                    </a:solidFill>
                  </a:tcPr>
                </a:tc>
                <a:tc>
                  <a:txBody>
                    <a:bodyPr/>
                    <a:lstStyle/>
                    <a:p>
                      <a:r>
                        <a:rPr sz="1800" b="0">
                          <a:solidFill>
                            <a:srgbClr val="F3F6F8"/>
                          </a:solidFill>
                          <a:latin typeface="Arial"/>
                          <a:ea typeface="Arial"/>
                          <a:cs typeface="Arial"/>
                        </a:rPr>
                        <a:t>43</a:t>
                      </a:r>
                    </a:p>
                  </a:txBody>
                  <a:tcPr marL="91440" marR="91440" marT="45720" marB="45720">
                    <a:solidFill>
                      <a:srgbClr val="10171C"/>
                    </a:solidFill>
                  </a:tcPr>
                </a:tc>
                <a:tc>
                  <a:txBody>
                    <a:bodyPr/>
                    <a:lstStyle/>
                    <a:p>
                      <a:r>
                        <a:rPr sz="1800" b="0">
                          <a:solidFill>
                            <a:srgbClr val="F3F6F8"/>
                          </a:solidFill>
                          <a:latin typeface="Arial"/>
                          <a:ea typeface="Arial"/>
                          <a:cs typeface="Arial"/>
                        </a:rPr>
                        <a:t>75</a:t>
                      </a:r>
                    </a:p>
                  </a:txBody>
                  <a:tcPr marL="91440" marR="91440" marT="45720" marB="45720">
                    <a:solidFill>
                      <a:srgbClr val="10171C"/>
                    </a:solidFill>
                  </a:tcPr>
                </a:tc>
              </a:tr>
              <a:tr h="590550">
                <a:tc>
                  <a:txBody>
                    <a:bodyPr/>
                    <a:lstStyle/>
                    <a:p>
                      <a:r>
                        <a:rPr sz="1800" b="0">
                          <a:solidFill>
                            <a:srgbClr val="F3F6F8"/>
                          </a:solidFill>
                          <a:latin typeface="Arial"/>
                          <a:ea typeface="Arial"/>
                          <a:cs typeface="Arial"/>
                        </a:rPr>
                        <a:t>Training keyframes</a:t>
                      </a:r>
                    </a:p>
                  </a:txBody>
                  <a:tcPr marL="91440" marR="91440" marT="45720" marB="45720">
                    <a:solidFill>
                      <a:srgbClr val="10171C"/>
                    </a:solidFill>
                  </a:tcPr>
                </a:tc>
                <a:tc>
                  <a:txBody>
                    <a:bodyPr/>
                    <a:lstStyle/>
                    <a:p>
                      <a:r>
                        <a:rPr sz="1800" b="0">
                          <a:solidFill>
                            <a:srgbClr val="F3F6F8"/>
                          </a:solidFill>
                          <a:latin typeface="Arial"/>
                          <a:ea typeface="Arial"/>
                          <a:cs typeface="Arial"/>
                        </a:rPr>
                        <a:t>774</a:t>
                      </a:r>
                    </a:p>
                  </a:txBody>
                  <a:tcPr marL="91440" marR="91440" marT="45720" marB="45720">
                    <a:solidFill>
                      <a:srgbClr val="10171C"/>
                    </a:solidFill>
                  </a:tcPr>
                </a:tc>
                <a:tc>
                  <a:txBody>
                    <a:bodyPr/>
                    <a:lstStyle/>
                    <a:p>
                      <a:r>
                        <a:rPr sz="1800" b="0">
                          <a:solidFill>
                            <a:srgbClr val="F3F6F8"/>
                          </a:solidFill>
                          <a:latin typeface="Arial"/>
                          <a:ea typeface="Arial"/>
                          <a:cs typeface="Arial"/>
                        </a:rPr>
                        <a:t>1,350</a:t>
                      </a:r>
                    </a:p>
                  </a:txBody>
                  <a:tcPr marL="91440" marR="91440" marT="45720" marB="45720">
                    <a:solidFill>
                      <a:srgbClr val="10171C"/>
                    </a:solidFill>
                  </a:tcPr>
                </a:tc>
              </a:tr>
              <a:tr h="590550">
                <a:tc>
                  <a:txBody>
                    <a:bodyPr/>
                    <a:lstStyle/>
                    <a:p>
                      <a:r>
                        <a:rPr sz="1800" b="0">
                          <a:solidFill>
                            <a:srgbClr val="F3F6F8"/>
                          </a:solidFill>
                          <a:latin typeface="Arial"/>
                          <a:ea typeface="Arial"/>
                          <a:cs typeface="Arial"/>
                        </a:rPr>
                        <a:t>Validation joint MAE</a:t>
                      </a:r>
                    </a:p>
                  </a:txBody>
                  <a:tcPr marL="91440" marR="91440" marT="45720" marB="45720">
                    <a:solidFill>
                      <a:srgbClr val="10171C"/>
                    </a:solidFill>
                  </a:tcPr>
                </a:tc>
                <a:tc>
                  <a:txBody>
                    <a:bodyPr/>
                    <a:lstStyle/>
                    <a:p>
                      <a:r>
                        <a:rPr sz="1800" b="0">
                          <a:solidFill>
                            <a:srgbClr val="F3F6F8"/>
                          </a:solidFill>
                          <a:latin typeface="Arial"/>
                          <a:ea typeface="Arial"/>
                          <a:cs typeface="Arial"/>
                        </a:rPr>
                        <a:t>0.002598 rad</a:t>
                      </a:r>
                    </a:p>
                  </a:txBody>
                  <a:tcPr marL="91440" marR="91440" marT="45720" marB="45720">
                    <a:solidFill>
                      <a:srgbClr val="10171C"/>
                    </a:solidFill>
                  </a:tcPr>
                </a:tc>
                <a:tc>
                  <a:txBody>
                    <a:bodyPr/>
                    <a:lstStyle/>
                    <a:p>
                      <a:r>
                        <a:rPr sz="1800" b="0">
                          <a:solidFill>
                            <a:srgbClr val="F3F6F8"/>
                          </a:solidFill>
                          <a:latin typeface="Arial"/>
                          <a:ea typeface="Arial"/>
                          <a:cs typeface="Arial"/>
                        </a:rPr>
                        <a:t>0.001933 rad</a:t>
                      </a:r>
                    </a:p>
                  </a:txBody>
                  <a:tcPr marL="91440" marR="91440" marT="45720" marB="45720">
                    <a:solidFill>
                      <a:srgbClr val="10171C"/>
                    </a:solidFill>
                  </a:tcPr>
                </a:tc>
              </a:tr>
              <a:tr h="590550">
                <a:tc>
                  <a:txBody>
                    <a:bodyPr/>
                    <a:lstStyle/>
                    <a:p>
                      <a:r>
                        <a:rPr sz="1800" b="0">
                          <a:solidFill>
                            <a:srgbClr val="F3F6F8"/>
                          </a:solidFill>
                          <a:latin typeface="Arial"/>
                          <a:ea typeface="Arial"/>
                          <a:cs typeface="Arial"/>
                        </a:rPr>
                        <a:t>Complete validation episodes</a:t>
                      </a:r>
                    </a:p>
                  </a:txBody>
                  <a:tcPr marL="91440" marR="91440" marT="45720" marB="45720">
                    <a:solidFill>
                      <a:srgbClr val="10171C"/>
                    </a:solidFill>
                  </a:tcPr>
                </a:tc>
                <a:tc>
                  <a:txBody>
                    <a:bodyPr/>
                    <a:lstStyle/>
                    <a:p>
                      <a:r>
                        <a:rPr sz="1800" b="0">
                          <a:solidFill>
                            <a:srgbClr val="F3F6F8"/>
                          </a:solidFill>
                          <a:latin typeface="Arial"/>
                          <a:ea typeface="Arial"/>
                          <a:cs typeface="Arial"/>
                        </a:rPr>
                        <a:t>6/8</a:t>
                      </a:r>
                    </a:p>
                  </a:txBody>
                  <a:tcPr marL="91440" marR="91440" marT="45720" marB="45720">
                    <a:solidFill>
                      <a:srgbClr val="10171C"/>
                    </a:solidFill>
                  </a:tcPr>
                </a:tc>
                <a:tc>
                  <a:txBody>
                    <a:bodyPr/>
                    <a:lstStyle/>
                    <a:p>
                      <a:r>
                        <a:rPr sz="1800" b="0">
                          <a:solidFill>
                            <a:srgbClr val="F3F6F8"/>
                          </a:solidFill>
                          <a:latin typeface="Arial"/>
                          <a:ea typeface="Arial"/>
                          <a:cs typeface="Arial"/>
                        </a:rPr>
                        <a:t>7/8</a:t>
                      </a:r>
                    </a:p>
                  </a:txBody>
                  <a:tcPr marL="91440" marR="91440" marT="45720" marB="45720">
                    <a:solidFill>
                      <a:srgbClr val="10171C"/>
                    </a:solidFill>
                  </a:tcPr>
                </a:tc>
              </a:tr>
            </a:tbl>
          </a:graphicData>
        </a:graphic>
      </p:graphicFrame>
      <p:sp>
        <p:nvSpPr>
          <p:cNvPr id="4" name="">
            <a:extLst xmlns:a="http://schemas.openxmlformats.org/drawingml/2006/main">
              <a:ext uri="{FF2B5EF4-FFF2-40B4-BE49-F238E27FC236}">
                <a16:creationId xmlns:a16="http://schemas.microsoft.com/office/drawing/2014/main" id="{634FD6E8-C0EF-4E70-8207-E28A7CC4DD4C}"/>
              </a:ext>
            </a:extLst>
          </p:cNvPr>
          <p:cNvSpPr>
            <a:spLocks xmlns:a="http://schemas.openxmlformats.org/drawingml/2006/main" noGrp="1"/>
          </p:cNvSpPr>
          <p:nvPr/>
        </p:nvSpPr>
        <p:spPr>
          <a:xfrm xmlns:a="http://schemas.openxmlformats.org/drawingml/2006/main">
            <a:off x="609600" y="4972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D45D"/>
                </a:solidFill>
                <a:latin typeface="Arial"/>
                <a:ea typeface="Arial"/>
                <a:cs typeface="Arial"/>
              </a:defRPr>
            </a:pPr>
            <a:r>
              <a:rPr sz="2325" b="1">
                <a:solidFill>
                  <a:srgbClr val="FFD45D"/>
                </a:solidFill>
                <a:latin typeface="Arial"/>
                <a:ea typeface="Arial"/>
                <a:cs typeface="Arial"/>
              </a:rPr>
              <a:t>25.6% lower joint-target error on validation observations</a:t>
            </a:r>
          </a:p>
        </p:txBody>
      </p:sp>
      <p:sp>
        <p:nvSpPr>
          <p:cNvPr id="5" name="">
            <a:extLst xmlns:a="http://schemas.openxmlformats.org/drawingml/2006/main">
              <a:ext uri="{FF2B5EF4-FFF2-40B4-BE49-F238E27FC236}">
                <a16:creationId xmlns:a16="http://schemas.microsoft.com/office/drawing/2014/main" id="{2C5D2A38-7BDF-427C-A57B-DC0390F3C4E1}"/>
              </a:ext>
            </a:extLst>
          </p:cNvPr>
          <p:cNvSpPr>
            <a:spLocks xmlns:a="http://schemas.openxmlformats.org/drawingml/2006/main" noGrp="1"/>
          </p:cNvSpPr>
          <p:nvPr/>
        </p:nvSpPr>
        <p:spPr>
          <a:xfrm xmlns:a="http://schemas.openxmlformats.org/drawingml/2006/main">
            <a:off x="609600" y="56578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4C1CB"/>
                </a:solidFill>
                <a:latin typeface="Arial"/>
                <a:ea typeface="Arial"/>
                <a:cs typeface="Arial"/>
              </a:defRPr>
            </a:pPr>
            <a:r>
              <a:rPr sz="1950" b="0">
                <a:solidFill>
                  <a:srgbClr val="B4C1CB"/>
                </a:solidFill>
                <a:latin typeface="Arial"/>
                <a:ea typeface="Arial"/>
                <a:cs typeface="Arial"/>
              </a:rPr>
              <a:t>Separate validation seeds. Fresh test scenes determine task reliability.</a:t>
            </a:r>
          </a:p>
        </p:txBody>
      </p:sp>
    </p:spTree>
    <p:extLst>
      <p:ext uri="{BB962C8B-B14F-4D97-AF65-F5344CB8AC3E}">
        <p14:creationId xmlns:p14="http://schemas.microsoft.com/office/powerpoint/2010/main" val="1183863858"/>
      </p:ext>
    </p:extLst>
  </p:cSld>
</p:sld>
</file>

<file path=ppt/slides/slide5.xml><?xml version="1.0" encoding="utf-8"?>
<p:sld xmlns:p="http://schemas.openxmlformats.org/presentationml/2006/main">
  <p:cSld>
    <p:bg>
      <p:bgPr>
        <a:solidFill xmlns:a="http://schemas.openxmlformats.org/drawingml/2006/main">
          <a:srgbClr val="1017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E3ECC1-59DE-42DF-937C-F3DC565A532F}"/>
              </a:ext>
            </a:extLst>
          </p:cNvPr>
          <p:cNvSpPr>
            <a:spLocks xmlns:a="http://schemas.openxmlformats.org/drawingml/2006/main" noGrp="1"/>
          </p:cNvSpPr>
          <p:nvPr/>
        </p:nvSpPr>
        <p:spPr>
          <a:xfrm xmlns:a="http://schemas.openxmlformats.org/drawingml/2006/main">
            <a:off x="609600" y="428625"/>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6F8"/>
                </a:solidFill>
                <a:latin typeface="Arial"/>
                <a:ea typeface="Arial"/>
                <a:cs typeface="Arial"/>
              </a:defRPr>
            </a:pPr>
            <a:r>
              <a:rPr sz="3300" b="1">
                <a:solidFill>
                  <a:srgbClr val="F3F6F8"/>
                </a:solidFill>
                <a:latin typeface="Arial"/>
                <a:ea typeface="Arial"/>
                <a:cs typeface="Arial"/>
              </a:rPr>
              <a:t>Fresh tests passed half the episodes</a:t>
            </a:r>
          </a:p>
        </p:txBody>
      </p:sp>
      <p:sp>
        <p:nvSpPr>
          <p:cNvPr id="2" name="">
            <a:extLst xmlns:a="http://schemas.openxmlformats.org/drawingml/2006/main">
              <a:ext uri="{FF2B5EF4-FFF2-40B4-BE49-F238E27FC236}">
                <a16:creationId xmlns:a16="http://schemas.microsoft.com/office/drawing/2014/main" id="{F28910FB-5C20-4D2D-AC02-EE92174D82B5}"/>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4C1CB"/>
                </a:solidFill>
                <a:latin typeface="Arial"/>
                <a:ea typeface="Arial"/>
                <a:cs typeface="Arial"/>
              </a:defRPr>
            </a:pPr>
            <a:r>
              <a:rPr sz="1350" b="0">
                <a:solidFill>
                  <a:srgbClr val="B4C1CB"/>
                </a:solidFill>
                <a:latin typeface="Arial"/>
                <a:ea typeface="Arial"/>
                <a:cs typeface="Arial"/>
              </a:rPr>
              <a:t>05</a:t>
            </a:r>
          </a:p>
        </p:txBody>
      </p:sp>
      <p:graphicFrame>
        <p:nvGraphicFramePr>
          <p:cNvPr id="9" name=""/>
          <p:cNvGraphicFramePr/>
          <p:nvPr/>
        </p:nvGraphicFramePr>
        <p:xfrm>
          <a:off xmlns:a="http://schemas.openxmlformats.org/drawingml/2006/main" x="609600" y="1676400"/>
          <a:ext xmlns:a="http://schemas.openxmlformats.org/drawingml/2006/main" cx="10953750" cy="1771650"/>
        </p:xfrm>
        <a:graphic xmlns:a="http://schemas.openxmlformats.org/drawingml/2006/main">
          <a:graphicData uri="http://schemas.openxmlformats.org/drawingml/2006/table">
            <a:tbl>
              <a:tblPr/>
              <a:tblGrid>
                <a:gridCol w="7953375"/>
                <a:gridCol w="3000375"/>
              </a:tblGrid>
              <a:tr h="590550">
                <a:tc>
                  <a:txBody>
                    <a:bodyPr/>
                    <a:lstStyle/>
                    <a:p>
                      <a:r>
                        <a:rPr sz="1800" b="1">
                          <a:solidFill>
                            <a:srgbClr val="FFD45D"/>
                          </a:solidFill>
                          <a:latin typeface="Arial"/>
                          <a:ea typeface="Arial"/>
                          <a:cs typeface="Arial"/>
                        </a:rPr>
                        <a:t>OpenVINO CPU condition</a:t>
                      </a:r>
                    </a:p>
                  </a:txBody>
                  <a:tcPr marL="91440" marR="91440" marT="45720" marB="45720">
                    <a:solidFill>
                      <a:srgbClr val="25343F"/>
                    </a:solidFill>
                  </a:tcPr>
                </a:tc>
                <a:tc>
                  <a:txBody>
                    <a:bodyPr/>
                    <a:lstStyle/>
                    <a:p>
                      <a:r>
                        <a:rPr sz="1800" b="1">
                          <a:solidFill>
                            <a:srgbClr val="FFD45D"/>
                          </a:solidFill>
                          <a:latin typeface="Arial"/>
                          <a:ea typeface="Arial"/>
                          <a:cs typeface="Arial"/>
                        </a:rPr>
                        <a:t>Successful episodes</a:t>
                      </a:r>
                    </a:p>
                  </a:txBody>
                  <a:tcPr marL="91440" marR="91440" marT="45720" marB="45720">
                    <a:solidFill>
                      <a:srgbClr val="25343F"/>
                    </a:solidFill>
                  </a:tcPr>
                </a:tc>
              </a:tr>
              <a:tr h="590550">
                <a:tc>
                  <a:txBody>
                    <a:bodyPr/>
                    <a:lstStyle/>
                    <a:p>
                      <a:r>
                        <a:rPr sz="1800" b="0">
                          <a:solidFill>
                            <a:srgbClr val="F3F6F8"/>
                          </a:solidFill>
                          <a:latin typeface="Arial"/>
                          <a:ea typeface="Arial"/>
                          <a:cs typeface="Arial"/>
                        </a:rPr>
                        <a:t>Cup first</a:t>
                      </a:r>
                    </a:p>
                  </a:txBody>
                  <a:tcPr marL="91440" marR="91440" marT="45720" marB="45720">
                    <a:solidFill>
                      <a:srgbClr val="10171C"/>
                    </a:solidFill>
                  </a:tcPr>
                </a:tc>
                <a:tc>
                  <a:txBody>
                    <a:bodyPr/>
                    <a:lstStyle/>
                    <a:p>
                      <a:r>
                        <a:rPr sz="1800" b="0">
                          <a:solidFill>
                            <a:srgbClr val="F3F6F8"/>
                          </a:solidFill>
                          <a:latin typeface="Arial"/>
                          <a:ea typeface="Arial"/>
                          <a:cs typeface="Arial"/>
                        </a:rPr>
                        <a:t>5/10</a:t>
                      </a:r>
                    </a:p>
                  </a:txBody>
                  <a:tcPr marL="91440" marR="91440" marT="45720" marB="45720">
                    <a:solidFill>
                      <a:srgbClr val="10171C"/>
                    </a:solidFill>
                  </a:tcPr>
                </a:tc>
              </a:tr>
              <a:tr h="590550">
                <a:tc>
                  <a:txBody>
                    <a:bodyPr/>
                    <a:lstStyle/>
                    <a:p>
                      <a:r>
                        <a:rPr sz="1800" b="0">
                          <a:solidFill>
                            <a:srgbClr val="F3F6F8"/>
                          </a:solidFill>
                          <a:latin typeface="Arial"/>
                          <a:ea typeface="Arial"/>
                          <a:cs typeface="Arial"/>
                        </a:rPr>
                        <a:t>Utensil first</a:t>
                      </a:r>
                    </a:p>
                  </a:txBody>
                  <a:tcPr marL="91440" marR="91440" marT="45720" marB="45720">
                    <a:solidFill>
                      <a:srgbClr val="10171C"/>
                    </a:solidFill>
                  </a:tcPr>
                </a:tc>
                <a:tc>
                  <a:txBody>
                    <a:bodyPr/>
                    <a:lstStyle/>
                    <a:p>
                      <a:r>
                        <a:rPr sz="1800" b="0">
                          <a:solidFill>
                            <a:srgbClr val="F3F6F8"/>
                          </a:solidFill>
                          <a:latin typeface="Arial"/>
                          <a:ea typeface="Arial"/>
                          <a:cs typeface="Arial"/>
                        </a:rPr>
                        <a:t>5/10</a:t>
                      </a:r>
                    </a:p>
                  </a:txBody>
                  <a:tcPr marL="91440" marR="91440" marT="45720" marB="45720">
                    <a:solidFill>
                      <a:srgbClr val="10171C"/>
                    </a:solidFill>
                  </a:tcPr>
                </a:tc>
              </a:tr>
            </a:tbl>
          </a:graphicData>
        </a:graphic>
      </p:graphicFrame>
      <p:sp>
        <p:nvSpPr>
          <p:cNvPr id="4" name="">
            <a:extLst xmlns:a="http://schemas.openxmlformats.org/drawingml/2006/main">
              <a:ext uri="{FF2B5EF4-FFF2-40B4-BE49-F238E27FC236}">
                <a16:creationId xmlns:a16="http://schemas.microsoft.com/office/drawing/2014/main" id="{00F21BBA-B140-4921-A0EB-289F77F68BE5}"/>
              </a:ext>
            </a:extLst>
          </p:cNvPr>
          <p:cNvSpPr>
            <a:spLocks xmlns:a="http://schemas.openxmlformats.org/drawingml/2006/main" noGrp="1"/>
          </p:cNvSpPr>
          <p:nvPr/>
        </p:nvSpPr>
        <p:spPr>
          <a:xfrm xmlns:a="http://schemas.openxmlformats.org/drawingml/2006/main">
            <a:off x="609600" y="40576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D45D"/>
                </a:solidFill>
                <a:latin typeface="Arial"/>
                <a:ea typeface="Arial"/>
                <a:cs typeface="Arial"/>
              </a:defRPr>
            </a:pPr>
            <a:r>
              <a:rPr sz="2550" b="1">
                <a:solidFill>
                  <a:srgbClr val="FFD45D"/>
                </a:solidFill>
                <a:latin typeface="Arial"/>
                <a:ea typeface="Arial"/>
                <a:cs typeface="Arial"/>
              </a:rPr>
              <a:t>Ten fresh scenes, two instruction orders</a:t>
            </a:r>
          </a:p>
        </p:txBody>
      </p:sp>
      <p:sp>
        <p:nvSpPr>
          <p:cNvPr id="5" name="">
            <a:extLst xmlns:a="http://schemas.openxmlformats.org/drawingml/2006/main">
              <a:ext uri="{FF2B5EF4-FFF2-40B4-BE49-F238E27FC236}">
                <a16:creationId xmlns:a16="http://schemas.microsoft.com/office/drawing/2014/main" id="{C73C0EE9-3B3C-4331-87CC-B3579160C2A2}"/>
              </a:ext>
            </a:extLst>
          </p:cNvPr>
          <p:cNvSpPr>
            <a:spLocks xmlns:a="http://schemas.openxmlformats.org/drawingml/2006/main" noGrp="1"/>
          </p:cNvSpPr>
          <p:nvPr/>
        </p:nvSpPr>
        <p:spPr>
          <a:xfrm xmlns:a="http://schemas.openxmlformats.org/drawingml/2006/main">
            <a:off x="609600" y="48101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3F6F8"/>
                </a:solidFill>
                <a:latin typeface="Arial"/>
                <a:ea typeface="Arial"/>
                <a:cs typeface="Arial"/>
              </a:defRPr>
            </a:pPr>
            <a:r>
              <a:rPr sz="2175" b="0">
                <a:solidFill>
                  <a:srgbClr val="F3F6F8"/>
                </a:solidFill>
                <a:latin typeface="Arial"/>
                <a:ea typeface="Arial"/>
                <a:cs typeface="Arial"/>
              </a:rPr>
              <a:t>Object positions vary independently by ±8 mm.</a:t>
            </a:r>
          </a:p>
          <a:p xmlns:a="http://schemas.openxmlformats.org/drawingml/2006/main">
            <a:pPr>
              <a:defRPr sz="2175" b="0">
                <a:solidFill>
                  <a:srgbClr val="F3F6F8"/>
                </a:solidFill>
                <a:latin typeface="Arial"/>
                <a:ea typeface="Arial"/>
                <a:cs typeface="Arial"/>
              </a:defRPr>
            </a:pPr>
            <a:r>
              <a:rPr sz="2175" b="0">
                <a:solidFill>
                  <a:srgbClr val="F3F6F8"/>
                </a:solidFill>
                <a:latin typeface="Arial"/>
                <a:ea typeface="Arial"/>
                <a:cs typeface="Arial"/>
              </a:rPr>
              <a:t>Cup placement remains a frequent failure.</a:t>
            </a:r>
          </a:p>
        </p:txBody>
      </p:sp>
      <p:sp>
        <p:nvSpPr>
          <p:cNvPr id="6" name="">
            <a:extLst xmlns:a="http://schemas.openxmlformats.org/drawingml/2006/main">
              <a:ext uri="{FF2B5EF4-FFF2-40B4-BE49-F238E27FC236}">
                <a16:creationId xmlns:a16="http://schemas.microsoft.com/office/drawing/2014/main" id="{0DF1AAB1-5909-4638-9B40-81E7F56A3A63}"/>
              </a:ext>
            </a:extLst>
          </p:cNvPr>
          <p:cNvSpPr>
            <a:spLocks xmlns:a="http://schemas.openxmlformats.org/drawingml/2006/main" noGrp="1"/>
          </p:cNvSpPr>
          <p:nvPr/>
        </p:nvSpPr>
        <p:spPr>
          <a:xfrm xmlns:a="http://schemas.openxmlformats.org/drawingml/2006/main">
            <a:off x="609600" y="59531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4C1CB"/>
                </a:solidFill>
                <a:latin typeface="Arial"/>
                <a:ea typeface="Arial"/>
                <a:cs typeface="Arial"/>
              </a:defRPr>
            </a:pPr>
            <a:r>
              <a:rPr sz="1800" b="0">
                <a:solidFill>
                  <a:srgbClr val="B4C1CB"/>
                </a:solidFill>
                <a:latin typeface="Arial"/>
                <a:ea typeface="Arial"/>
                <a:cs typeface="Arial"/>
              </a:rPr>
              <a:t>Better validation accuracy has not established reliable task completion.</a:t>
            </a:r>
          </a:p>
        </p:txBody>
      </p:sp>
    </p:spTree>
    <p:extLst>
      <p:ext uri="{BB962C8B-B14F-4D97-AF65-F5344CB8AC3E}">
        <p14:creationId xmlns:p14="http://schemas.microsoft.com/office/powerpoint/2010/main" val="1569876110"/>
      </p:ext>
    </p:extLst>
  </p:cSld>
</p:sld>
</file>

<file path=ppt/slides/slide6.xml><?xml version="1.0" encoding="utf-8"?>
<p:sld xmlns:p="http://schemas.openxmlformats.org/presentationml/2006/main">
  <p:cSld>
    <p:bg>
      <p:bgPr>
        <a:solidFill xmlns:a="http://schemas.openxmlformats.org/drawingml/2006/main">
          <a:srgbClr val="1017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687735-C191-45F6-BD17-317AB15956D8}"/>
              </a:ext>
            </a:extLst>
          </p:cNvPr>
          <p:cNvSpPr>
            <a:spLocks xmlns:a="http://schemas.openxmlformats.org/drawingml/2006/main" noGrp="1"/>
          </p:cNvSpPr>
          <p:nvPr/>
        </p:nvSpPr>
        <p:spPr>
          <a:xfrm xmlns:a="http://schemas.openxmlformats.org/drawingml/2006/main">
            <a:off x="609600" y="428625"/>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6F8"/>
                </a:solidFill>
                <a:latin typeface="Arial"/>
                <a:ea typeface="Arial"/>
                <a:cs typeface="Arial"/>
              </a:defRPr>
            </a:pPr>
            <a:r>
              <a:rPr sz="3300" b="1">
                <a:solidFill>
                  <a:srgbClr val="F3F6F8"/>
                </a:solidFill>
                <a:latin typeface="Arial"/>
                <a:ea typeface="Arial"/>
                <a:cs typeface="Arial"/>
              </a:rPr>
              <a:t>Robustness beyond object placement</a:t>
            </a:r>
          </a:p>
        </p:txBody>
      </p:sp>
      <p:sp>
        <p:nvSpPr>
          <p:cNvPr id="2" name="">
            <a:extLst xmlns:a="http://schemas.openxmlformats.org/drawingml/2006/main">
              <a:ext uri="{FF2B5EF4-FFF2-40B4-BE49-F238E27FC236}">
                <a16:creationId xmlns:a16="http://schemas.microsoft.com/office/drawing/2014/main" id="{7E69CF7F-8E3B-47E0-BE96-51AE749718EA}"/>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4C1CB"/>
                </a:solidFill>
                <a:latin typeface="Arial"/>
                <a:ea typeface="Arial"/>
                <a:cs typeface="Arial"/>
              </a:defRPr>
            </a:pPr>
            <a:r>
              <a:rPr sz="1350" b="0">
                <a:solidFill>
                  <a:srgbClr val="B4C1CB"/>
                </a:solidFill>
                <a:latin typeface="Arial"/>
                <a:ea typeface="Arial"/>
                <a:cs typeface="Arial"/>
              </a:rPr>
              <a:t>06</a:t>
            </a:r>
          </a:p>
        </p:txBody>
      </p:sp>
      <p:graphicFrame>
        <p:nvGraphicFramePr>
          <p:cNvPr id="7" name=""/>
          <p:cNvGraphicFramePr/>
          <p:nvPr/>
        </p:nvGraphicFramePr>
        <p:xfrm>
          <a:off xmlns:a="http://schemas.openxmlformats.org/drawingml/2006/main" x="609600" y="1552575"/>
          <a:ext xmlns:a="http://schemas.openxmlformats.org/drawingml/2006/main" cx="10953750" cy="3543300"/>
        </p:xfrm>
        <a:graphic xmlns:a="http://schemas.openxmlformats.org/drawingml/2006/main">
          <a:graphicData uri="http://schemas.openxmlformats.org/drawingml/2006/table">
            <a:tbl>
              <a:tblPr/>
              <a:tblGrid>
                <a:gridCol w="8191500"/>
                <a:gridCol w="2762250"/>
              </a:tblGrid>
              <a:tr h="590550">
                <a:tc>
                  <a:txBody>
                    <a:bodyPr/>
                    <a:lstStyle/>
                    <a:p>
                      <a:r>
                        <a:rPr sz="1800" b="1">
                          <a:solidFill>
                            <a:srgbClr val="FFD45D"/>
                          </a:solidFill>
                          <a:latin typeface="Arial"/>
                          <a:ea typeface="Arial"/>
                          <a:cs typeface="Arial"/>
                        </a:rPr>
                        <a:t>Scene condition</a:t>
                      </a:r>
                    </a:p>
                  </a:txBody>
                  <a:tcPr marL="91440" marR="91440" marT="45720" marB="45720">
                    <a:solidFill>
                      <a:srgbClr val="25343F"/>
                    </a:solidFill>
                  </a:tcPr>
                </a:tc>
                <a:tc>
                  <a:txBody>
                    <a:bodyPr/>
                    <a:lstStyle/>
                    <a:p>
                      <a:r>
                        <a:rPr sz="1800" b="1">
                          <a:solidFill>
                            <a:srgbClr val="FFD45D"/>
                          </a:solidFill>
                          <a:latin typeface="Arial"/>
                          <a:ea typeface="Arial"/>
                          <a:cs typeface="Arial"/>
                        </a:rPr>
                        <a:t>Success</a:t>
                      </a:r>
                    </a:p>
                  </a:txBody>
                  <a:tcPr marL="91440" marR="91440" marT="45720" marB="45720">
                    <a:solidFill>
                      <a:srgbClr val="25343F"/>
                    </a:solidFill>
                  </a:tcPr>
                </a:tc>
              </a:tr>
              <a:tr h="590550">
                <a:tc>
                  <a:txBody>
                    <a:bodyPr/>
                    <a:lstStyle/>
                    <a:p>
                      <a:r>
                        <a:rPr sz="1800" b="0">
                          <a:solidFill>
                            <a:srgbClr val="F3F6F8"/>
                          </a:solidFill>
                          <a:latin typeface="Arial"/>
                          <a:ea typeface="Arial"/>
                          <a:cs typeface="Arial"/>
                        </a:rPr>
                        <a:t>Standard positions</a:t>
                      </a:r>
                    </a:p>
                  </a:txBody>
                  <a:tcPr marL="91440" marR="91440" marT="45720" marB="45720">
                    <a:solidFill>
                      <a:srgbClr val="10171C"/>
                    </a:solidFill>
                  </a:tcPr>
                </a:tc>
                <a:tc>
                  <a:txBody>
                    <a:bodyPr/>
                    <a:lstStyle/>
                    <a:p>
                      <a:r>
                        <a:rPr sz="1800" b="0">
                          <a:solidFill>
                            <a:srgbClr val="F3F6F8"/>
                          </a:solidFill>
                          <a:latin typeface="Arial"/>
                          <a:ea typeface="Arial"/>
                          <a:cs typeface="Arial"/>
                        </a:rPr>
                        <a:t>6/10</a:t>
                      </a:r>
                    </a:p>
                  </a:txBody>
                  <a:tcPr marL="91440" marR="91440" marT="45720" marB="45720">
                    <a:solidFill>
                      <a:srgbClr val="10171C"/>
                    </a:solidFill>
                  </a:tcPr>
                </a:tc>
              </a:tr>
              <a:tr h="590550">
                <a:tc>
                  <a:txBody>
                    <a:bodyPr/>
                    <a:lstStyle/>
                    <a:p>
                      <a:r>
                        <a:rPr sz="1800" b="0">
                          <a:solidFill>
                            <a:srgbClr val="F3F6F8"/>
                          </a:solidFill>
                          <a:latin typeface="Arial"/>
                          <a:ea typeface="Arial"/>
                          <a:cs typeface="Arial"/>
                        </a:rPr>
                        <a:t>Lighting and background</a:t>
                      </a:r>
                    </a:p>
                  </a:txBody>
                  <a:tcPr marL="91440" marR="91440" marT="45720" marB="45720">
                    <a:solidFill>
                      <a:srgbClr val="10171C"/>
                    </a:solidFill>
                  </a:tcPr>
                </a:tc>
                <a:tc>
                  <a:txBody>
                    <a:bodyPr/>
                    <a:lstStyle/>
                    <a:p>
                      <a:r>
                        <a:rPr sz="1800" b="0">
                          <a:solidFill>
                            <a:srgbClr val="F3F6F8"/>
                          </a:solidFill>
                          <a:latin typeface="Arial"/>
                          <a:ea typeface="Arial"/>
                          <a:cs typeface="Arial"/>
                        </a:rPr>
                        <a:t>4/10</a:t>
                      </a:r>
                    </a:p>
                  </a:txBody>
                  <a:tcPr marL="91440" marR="91440" marT="45720" marB="45720">
                    <a:solidFill>
                      <a:srgbClr val="10171C"/>
                    </a:solidFill>
                  </a:tcPr>
                </a:tc>
              </a:tr>
              <a:tr h="590550">
                <a:tc>
                  <a:txBody>
                    <a:bodyPr/>
                    <a:lstStyle/>
                    <a:p>
                      <a:r>
                        <a:rPr sz="1800" b="0">
                          <a:solidFill>
                            <a:srgbClr val="F3F6F8"/>
                          </a:solidFill>
                          <a:latin typeface="Arial"/>
                          <a:ea typeface="Arial"/>
                          <a:cs typeface="Arial"/>
                        </a:rPr>
                        <a:t>Mass and friction</a:t>
                      </a:r>
                    </a:p>
                  </a:txBody>
                  <a:tcPr marL="91440" marR="91440" marT="45720" marB="45720">
                    <a:solidFill>
                      <a:srgbClr val="10171C"/>
                    </a:solidFill>
                  </a:tcPr>
                </a:tc>
                <a:tc>
                  <a:txBody>
                    <a:bodyPr/>
                    <a:lstStyle/>
                    <a:p>
                      <a:r>
                        <a:rPr sz="1800" b="0">
                          <a:solidFill>
                            <a:srgbClr val="F3F6F8"/>
                          </a:solidFill>
                          <a:latin typeface="Arial"/>
                          <a:ea typeface="Arial"/>
                          <a:cs typeface="Arial"/>
                        </a:rPr>
                        <a:t>6/10</a:t>
                      </a:r>
                    </a:p>
                  </a:txBody>
                  <a:tcPr marL="91440" marR="91440" marT="45720" marB="45720">
                    <a:solidFill>
                      <a:srgbClr val="10171C"/>
                    </a:solidFill>
                  </a:tcPr>
                </a:tc>
              </a:tr>
              <a:tr h="590550">
                <a:tc>
                  <a:txBody>
                    <a:bodyPr/>
                    <a:lstStyle/>
                    <a:p>
                      <a:r>
                        <a:rPr sz="1800" b="0">
                          <a:solidFill>
                            <a:srgbClr val="F3F6F8"/>
                          </a:solidFill>
                          <a:latin typeface="Arial"/>
                          <a:ea typeface="Arial"/>
                          <a:cs typeface="Arial"/>
                        </a:rPr>
                        <a:t>Horizontal object size</a:t>
                      </a:r>
                    </a:p>
                  </a:txBody>
                  <a:tcPr marL="91440" marR="91440" marT="45720" marB="45720">
                    <a:solidFill>
                      <a:srgbClr val="10171C"/>
                    </a:solidFill>
                  </a:tcPr>
                </a:tc>
                <a:tc>
                  <a:txBody>
                    <a:bodyPr/>
                    <a:lstStyle/>
                    <a:p>
                      <a:r>
                        <a:rPr sz="1800" b="0">
                          <a:solidFill>
                            <a:srgbClr val="F3F6F8"/>
                          </a:solidFill>
                          <a:latin typeface="Arial"/>
                          <a:ea typeface="Arial"/>
                          <a:cs typeface="Arial"/>
                        </a:rPr>
                        <a:t>7/10</a:t>
                      </a:r>
                    </a:p>
                  </a:txBody>
                  <a:tcPr marL="91440" marR="91440" marT="45720" marB="45720">
                    <a:solidFill>
                      <a:srgbClr val="10171C"/>
                    </a:solidFill>
                  </a:tcPr>
                </a:tc>
              </a:tr>
              <a:tr h="590550">
                <a:tc>
                  <a:txBody>
                    <a:bodyPr/>
                    <a:lstStyle/>
                    <a:p>
                      <a:r>
                        <a:rPr sz="1800" b="0">
                          <a:solidFill>
                            <a:srgbClr val="F3F6F8"/>
                          </a:solidFill>
                          <a:latin typeface="Arial"/>
                          <a:ea typeface="Arial"/>
                          <a:cs typeface="Arial"/>
                        </a:rPr>
                        <a:t>Combined variations</a:t>
                      </a:r>
                    </a:p>
                  </a:txBody>
                  <a:tcPr marL="91440" marR="91440" marT="45720" marB="45720">
                    <a:solidFill>
                      <a:srgbClr val="10171C"/>
                    </a:solidFill>
                  </a:tcPr>
                </a:tc>
                <a:tc>
                  <a:txBody>
                    <a:bodyPr/>
                    <a:lstStyle/>
                    <a:p>
                      <a:r>
                        <a:rPr sz="1800" b="0">
                          <a:solidFill>
                            <a:srgbClr val="F3F6F8"/>
                          </a:solidFill>
                          <a:latin typeface="Arial"/>
                          <a:ea typeface="Arial"/>
                          <a:cs typeface="Arial"/>
                        </a:rPr>
                        <a:t>6/10</a:t>
                      </a:r>
                    </a:p>
                  </a:txBody>
                  <a:tcPr marL="91440" marR="91440" marT="45720" marB="45720">
                    <a:solidFill>
                      <a:srgbClr val="10171C"/>
                    </a:solidFill>
                  </a:tcPr>
                </a:tc>
              </a:tr>
            </a:tbl>
          </a:graphicData>
        </a:graphic>
      </p:graphicFrame>
      <p:sp>
        <p:nvSpPr>
          <p:cNvPr id="4" name="">
            <a:extLst xmlns:a="http://schemas.openxmlformats.org/drawingml/2006/main">
              <a:ext uri="{FF2B5EF4-FFF2-40B4-BE49-F238E27FC236}">
                <a16:creationId xmlns:a16="http://schemas.microsoft.com/office/drawing/2014/main" id="{FC725505-0DDA-45FB-9B0A-019810F5215D}"/>
              </a:ext>
            </a:extLst>
          </p:cNvPr>
          <p:cNvSpPr>
            <a:spLocks xmlns:a="http://schemas.openxmlformats.org/drawingml/2006/main" noGrp="1"/>
          </p:cNvSpPr>
          <p:nvPr/>
        </p:nvSpPr>
        <p:spPr>
          <a:xfrm xmlns:a="http://schemas.openxmlformats.org/drawingml/2006/main">
            <a:off x="609600" y="5524500"/>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4C1CB"/>
                </a:solidFill>
                <a:latin typeface="Arial"/>
                <a:ea typeface="Arial"/>
                <a:cs typeface="Arial"/>
              </a:defRPr>
            </a:pPr>
            <a:r>
              <a:rPr sz="2025" b="0">
                <a:solidFill>
                  <a:srgbClr val="B4C1CB"/>
                </a:solidFill>
                <a:latin typeface="Arial"/>
                <a:ea typeface="Arial"/>
                <a:cs typeface="Arial"/>
              </a:rPr>
              <a:t>50 additional episodes. Unfamiliar shapes and recovery remain untested.</a:t>
            </a:r>
          </a:p>
        </p:txBody>
      </p:sp>
    </p:spTree>
    <p:extLst>
      <p:ext uri="{BB962C8B-B14F-4D97-AF65-F5344CB8AC3E}">
        <p14:creationId xmlns:p14="http://schemas.microsoft.com/office/powerpoint/2010/main" val="1259180959"/>
      </p:ext>
    </p:extLst>
  </p:cSld>
</p:sld>
</file>

<file path=ppt/slides/slide7.xml><?xml version="1.0" encoding="utf-8"?>
<p:sld xmlns:p="http://schemas.openxmlformats.org/presentationml/2006/main">
  <p:cSld>
    <p:bg>
      <p:bgPr>
        <a:solidFill xmlns:a="http://schemas.openxmlformats.org/drawingml/2006/main">
          <a:srgbClr val="1017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23005B5-9829-4D11-BB30-184E46BA7736}"/>
              </a:ext>
            </a:extLst>
          </p:cNvPr>
          <p:cNvSpPr>
            <a:spLocks xmlns:a="http://schemas.openxmlformats.org/drawingml/2006/main" noGrp="1"/>
          </p:cNvSpPr>
          <p:nvPr/>
        </p:nvSpPr>
        <p:spPr>
          <a:xfrm xmlns:a="http://schemas.openxmlformats.org/drawingml/2006/main">
            <a:off x="609600" y="428625"/>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6F8"/>
                </a:solidFill>
                <a:latin typeface="Arial"/>
                <a:ea typeface="Arial"/>
                <a:cs typeface="Arial"/>
              </a:defRPr>
            </a:pPr>
            <a:r>
              <a:rPr sz="3300" b="1">
                <a:solidFill>
                  <a:srgbClr val="F3F6F8"/>
                </a:solidFill>
                <a:latin typeface="Arial"/>
                <a:ea typeface="Arial"/>
                <a:cs typeface="Arial"/>
              </a:rPr>
              <a:t>Intel deployment: measured and expected</a:t>
            </a:r>
          </a:p>
        </p:txBody>
      </p:sp>
      <p:sp>
        <p:nvSpPr>
          <p:cNvPr id="2" name="">
            <a:extLst xmlns:a="http://schemas.openxmlformats.org/drawingml/2006/main">
              <a:ext uri="{FF2B5EF4-FFF2-40B4-BE49-F238E27FC236}">
                <a16:creationId xmlns:a16="http://schemas.microsoft.com/office/drawing/2014/main" id="{09020640-C2FA-4E19-8560-AF9163E437FC}"/>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4C1CB"/>
                </a:solidFill>
                <a:latin typeface="Arial"/>
                <a:ea typeface="Arial"/>
                <a:cs typeface="Arial"/>
              </a:defRPr>
            </a:pPr>
            <a:r>
              <a:rPr sz="1350" b="0">
                <a:solidFill>
                  <a:srgbClr val="B4C1CB"/>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6A22B4AC-80C9-47C2-8CC3-51CE07DB0B2F}"/>
              </a:ext>
            </a:extLst>
          </p:cNvPr>
          <p:cNvSpPr>
            <a:spLocks xmlns:a="http://schemas.openxmlformats.org/drawingml/2006/main" noGrp="1"/>
          </p:cNvSpPr>
          <p:nvPr/>
        </p:nvSpPr>
        <p:spPr>
          <a:xfrm xmlns:a="http://schemas.openxmlformats.org/drawingml/2006/main">
            <a:off x="609600" y="16192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5E0B8"/>
                </a:solidFill>
                <a:latin typeface="Arial"/>
                <a:ea typeface="Arial"/>
                <a:cs typeface="Arial"/>
              </a:defRPr>
            </a:pPr>
            <a:r>
              <a:rPr sz="1800" b="1">
                <a:solidFill>
                  <a:srgbClr val="75E0B8"/>
                </a:solidFill>
                <a:latin typeface="Arial"/>
                <a:ea typeface="Arial"/>
                <a:cs typeface="Arial"/>
              </a:rPr>
              <a:t>VERIFIED LOCALLY</a:t>
            </a:r>
          </a:p>
        </p:txBody>
      </p:sp>
      <p:sp>
        <p:nvSpPr>
          <p:cNvPr id="4" name="">
            <a:extLst xmlns:a="http://schemas.openxmlformats.org/drawingml/2006/main">
              <a:ext uri="{FF2B5EF4-FFF2-40B4-BE49-F238E27FC236}">
                <a16:creationId xmlns:a16="http://schemas.microsoft.com/office/drawing/2014/main" id="{DB4818B0-2AAB-4A1C-BE49-7493C61AD280}"/>
              </a:ext>
            </a:extLst>
          </p:cNvPr>
          <p:cNvSpPr>
            <a:spLocks xmlns:a="http://schemas.openxmlformats.org/drawingml/2006/main" noGrp="1"/>
          </p:cNvSpPr>
          <p:nvPr/>
        </p:nvSpPr>
        <p:spPr>
          <a:xfrm xmlns:a="http://schemas.openxmlformats.org/drawingml/2006/main">
            <a:off x="609600" y="2257425"/>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3F6F8"/>
                </a:solidFill>
                <a:latin typeface="Arial"/>
                <a:ea typeface="Arial"/>
                <a:cs typeface="Arial"/>
              </a:defRPr>
            </a:pPr>
            <a:r>
              <a:rPr sz="2850" b="1">
                <a:solidFill>
                  <a:srgbClr val="F3F6F8"/>
                </a:solidFill>
                <a:latin typeface="Arial"/>
                <a:ea typeface="Arial"/>
                <a:cs typeface="Arial"/>
              </a:rPr>
              <a:t>Core Ultra 5 125U</a:t>
            </a:r>
          </a:p>
          <a:p xmlns:a="http://schemas.openxmlformats.org/drawingml/2006/main">
            <a:pPr>
              <a:defRPr sz="2850" b="1">
                <a:solidFill>
                  <a:srgbClr val="F3F6F8"/>
                </a:solidFill>
                <a:latin typeface="Arial"/>
                <a:ea typeface="Arial"/>
                <a:cs typeface="Arial"/>
              </a:defRPr>
            </a:pPr>
            <a:r>
              <a:rPr sz="2850" b="1">
                <a:solidFill>
                  <a:srgbClr val="F3F6F8"/>
                </a:solidFill>
                <a:latin typeface="Arial"/>
                <a:ea typeface="Arial"/>
                <a:cs typeface="Arial"/>
              </a:rPr>
              <a:t>Series 1</a:t>
            </a:r>
          </a:p>
        </p:txBody>
      </p:sp>
      <p:sp>
        <p:nvSpPr>
          <p:cNvPr id="5" name="">
            <a:extLst xmlns:a="http://schemas.openxmlformats.org/drawingml/2006/main">
              <a:ext uri="{FF2B5EF4-FFF2-40B4-BE49-F238E27FC236}">
                <a16:creationId xmlns:a16="http://schemas.microsoft.com/office/drawing/2014/main" id="{0BB6C28D-BE6E-49C7-8234-214B6A185AFA}"/>
              </a:ext>
            </a:extLst>
          </p:cNvPr>
          <p:cNvSpPr>
            <a:spLocks xmlns:a="http://schemas.openxmlformats.org/drawingml/2006/main" noGrp="1"/>
          </p:cNvSpPr>
          <p:nvPr/>
        </p:nvSpPr>
        <p:spPr>
          <a:xfrm xmlns:a="http://schemas.openxmlformats.org/drawingml/2006/main">
            <a:off x="609600" y="3657600"/>
            <a:ext cx="5048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3F6F8"/>
                </a:solidFill>
                <a:latin typeface="Arial"/>
                <a:ea typeface="Arial"/>
                <a:cs typeface="Arial"/>
              </a:defRPr>
            </a:pPr>
            <a:r>
              <a:rPr sz="2100" b="0">
                <a:solidFill>
                  <a:srgbClr val="F3F6F8"/>
                </a:solidFill>
                <a:latin typeface="Arial"/>
                <a:ea typeface="Arial"/>
                <a:cs typeface="Arial"/>
              </a:rPr>
              <a:t>MuJoCo simulation and OpenVINO CPU inference run locally.</a:t>
            </a:r>
          </a:p>
          <a:p xmlns:a="http://schemas.openxmlformats.org/drawingml/2006/main">
            <a:r>
              <a:t/>
            </a:r>
          </a:p>
          <a:p xmlns:a="http://schemas.openxmlformats.org/drawingml/2006/main">
            <a:pPr>
              <a:defRPr sz="2100" b="0">
                <a:solidFill>
                  <a:srgbClr val="F3F6F8"/>
                </a:solidFill>
                <a:latin typeface="Arial"/>
                <a:ea typeface="Arial"/>
                <a:cs typeface="Arial"/>
              </a:defRPr>
            </a:pPr>
            <a:r>
              <a:rPr sz="2100" b="0">
                <a:solidFill>
                  <a:srgbClr val="F3F6F8"/>
                </a:solidFill>
                <a:latin typeface="Arial"/>
                <a:ea typeface="Arial"/>
                <a:cs typeface="Arial"/>
              </a:rPr>
              <a:t>All 112 model graph operations pass the CPU support query.</a:t>
            </a:r>
          </a:p>
        </p:txBody>
      </p:sp>
      <p:sp>
        <p:nvSpPr>
          <p:cNvPr id="6" name="">
            <a:extLst xmlns:a="http://schemas.openxmlformats.org/drawingml/2006/main">
              <a:ext uri="{FF2B5EF4-FFF2-40B4-BE49-F238E27FC236}">
                <a16:creationId xmlns:a16="http://schemas.microsoft.com/office/drawing/2014/main" id="{27D19902-A901-4D24-8CAD-ACADE16011AD}"/>
              </a:ext>
            </a:extLst>
          </p:cNvPr>
          <p:cNvSpPr>
            <a:spLocks xmlns:a="http://schemas.openxmlformats.org/drawingml/2006/main" noGrp="1"/>
          </p:cNvSpPr>
          <p:nvPr/>
        </p:nvSpPr>
        <p:spPr>
          <a:xfrm xmlns:a="http://schemas.openxmlformats.org/drawingml/2006/main">
            <a:off x="6553200" y="16192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D45D"/>
                </a:solidFill>
                <a:latin typeface="Arial"/>
                <a:ea typeface="Arial"/>
                <a:cs typeface="Arial"/>
              </a:defRPr>
            </a:pPr>
            <a:r>
              <a:rPr sz="1800" b="1">
                <a:solidFill>
                  <a:srgbClr val="FFD45D"/>
                </a:solidFill>
                <a:latin typeface="Arial"/>
                <a:ea typeface="Arial"/>
                <a:cs typeface="Arial"/>
              </a:rPr>
              <a:t>TARGET HARDWARE</a:t>
            </a:r>
          </a:p>
        </p:txBody>
      </p:sp>
      <p:sp>
        <p:nvSpPr>
          <p:cNvPr id="7" name="">
            <a:extLst xmlns:a="http://schemas.openxmlformats.org/drawingml/2006/main">
              <a:ext uri="{FF2B5EF4-FFF2-40B4-BE49-F238E27FC236}">
                <a16:creationId xmlns:a16="http://schemas.microsoft.com/office/drawing/2014/main" id="{B2D504B0-6A5F-4900-814E-AF4C74FCCB2D}"/>
              </a:ext>
            </a:extLst>
          </p:cNvPr>
          <p:cNvSpPr>
            <a:spLocks xmlns:a="http://schemas.openxmlformats.org/drawingml/2006/main" noGrp="1"/>
          </p:cNvSpPr>
          <p:nvPr/>
        </p:nvSpPr>
        <p:spPr>
          <a:xfrm xmlns:a="http://schemas.openxmlformats.org/drawingml/2006/main">
            <a:off x="6553200" y="2257425"/>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3F6F8"/>
                </a:solidFill>
                <a:latin typeface="Arial"/>
                <a:ea typeface="Arial"/>
                <a:cs typeface="Arial"/>
              </a:defRPr>
            </a:pPr>
            <a:r>
              <a:rPr sz="2850" b="1">
                <a:solidFill>
                  <a:srgbClr val="F3F6F8"/>
                </a:solidFill>
                <a:latin typeface="Arial"/>
                <a:ea typeface="Arial"/>
                <a:cs typeface="Arial"/>
              </a:rPr>
              <a:t>Core Ultra</a:t>
            </a:r>
          </a:p>
          <a:p xmlns:a="http://schemas.openxmlformats.org/drawingml/2006/main">
            <a:pPr>
              <a:defRPr sz="2850" b="1">
                <a:solidFill>
                  <a:srgbClr val="F3F6F8"/>
                </a:solidFill>
                <a:latin typeface="Arial"/>
                <a:ea typeface="Arial"/>
                <a:cs typeface="Arial"/>
              </a:defRPr>
            </a:pPr>
            <a:r>
              <a:rPr sz="2850" b="1">
                <a:solidFill>
                  <a:srgbClr val="F3F6F8"/>
                </a:solidFill>
                <a:latin typeface="Arial"/>
                <a:ea typeface="Arial"/>
                <a:cs typeface="Arial"/>
              </a:rPr>
              <a:t>Series 2 / 3</a:t>
            </a:r>
          </a:p>
        </p:txBody>
      </p:sp>
      <p:sp>
        <p:nvSpPr>
          <p:cNvPr id="8" name="">
            <a:extLst xmlns:a="http://schemas.openxmlformats.org/drawingml/2006/main">
              <a:ext uri="{FF2B5EF4-FFF2-40B4-BE49-F238E27FC236}">
                <a16:creationId xmlns:a16="http://schemas.microsoft.com/office/drawing/2014/main" id="{F54E765F-9241-4D9E-BDFD-F1741B960ED7}"/>
              </a:ext>
            </a:extLst>
          </p:cNvPr>
          <p:cNvSpPr>
            <a:spLocks xmlns:a="http://schemas.openxmlformats.org/drawingml/2006/main" noGrp="1"/>
          </p:cNvSpPr>
          <p:nvPr/>
        </p:nvSpPr>
        <p:spPr>
          <a:xfrm xmlns:a="http://schemas.openxmlformats.org/drawingml/2006/main">
            <a:off x="6553200" y="3657600"/>
            <a:ext cx="4857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3F6F8"/>
                </a:solidFill>
                <a:latin typeface="Arial"/>
                <a:ea typeface="Arial"/>
                <a:cs typeface="Arial"/>
              </a:defRPr>
            </a:pPr>
            <a:r>
              <a:rPr sz="2100" b="0">
                <a:solidFill>
                  <a:srgbClr val="F3F6F8"/>
                </a:solidFill>
                <a:latin typeface="Arial"/>
                <a:ea typeface="Arial"/>
                <a:cs typeface="Arial"/>
              </a:rPr>
              <a:t>Intel’s CPU support matrix supports compatibility in principle.</a:t>
            </a:r>
          </a:p>
          <a:p xmlns:a="http://schemas.openxmlformats.org/drawingml/2006/main">
            <a:r>
              <a:t/>
            </a:r>
          </a:p>
          <a:p xmlns:a="http://schemas.openxmlformats.org/drawingml/2006/main">
            <a:pPr>
              <a:defRPr sz="2100" b="0">
                <a:solidFill>
                  <a:srgbClr val="F3F6F8"/>
                </a:solidFill>
                <a:latin typeface="Arial"/>
                <a:ea typeface="Arial"/>
                <a:cs typeface="Arial"/>
              </a:defRPr>
            </a:pPr>
            <a:r>
              <a:rPr sz="2100" b="0">
                <a:solidFill>
                  <a:srgbClr val="F3F6F8"/>
                </a:solidFill>
                <a:latin typeface="Arial"/>
                <a:ea typeface="Arial"/>
                <a:cs typeface="Arial"/>
              </a:rPr>
              <a:t>Actual target execution and performance remain unverified.</a:t>
            </a:r>
          </a:p>
        </p:txBody>
      </p:sp>
      <p:sp>
        <p:nvSpPr>
          <p:cNvPr id="9" name="">
            <a:extLst xmlns:a="http://schemas.openxmlformats.org/drawingml/2006/main">
              <a:ext uri="{FF2B5EF4-FFF2-40B4-BE49-F238E27FC236}">
                <a16:creationId xmlns:a16="http://schemas.microsoft.com/office/drawing/2014/main" id="{2882DFE1-EA56-4A8B-9650-302AAC38FF98}"/>
              </a:ext>
            </a:extLst>
          </p:cNvPr>
          <p:cNvSpPr>
            <a:spLocks xmlns:a="http://schemas.openxmlformats.org/drawingml/2006/main" noGrp="1"/>
          </p:cNvSpPr>
          <p:nvPr/>
        </p:nvSpPr>
        <p:spPr>
          <a:xfrm xmlns:a="http://schemas.openxmlformats.org/drawingml/2006/main">
            <a:off x="609600" y="60293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4C1CB"/>
                </a:solidFill>
                <a:latin typeface="Arial"/>
                <a:ea typeface="Arial"/>
                <a:cs typeface="Arial"/>
              </a:defRPr>
            </a:pPr>
            <a:r>
              <a:rPr sz="1800" b="0">
                <a:solidFill>
                  <a:srgbClr val="B4C1CB"/>
                </a:solidFill>
                <a:latin typeface="Arial"/>
                <a:ea typeface="Arial"/>
                <a:cs typeface="Arial"/>
              </a:rPr>
              <a:t>No full-policy NPU or GPU execution claim</a:t>
            </a:r>
          </a:p>
        </p:txBody>
      </p:sp>
    </p:spTree>
    <p:extLst>
      <p:ext uri="{BB962C8B-B14F-4D97-AF65-F5344CB8AC3E}">
        <p14:creationId xmlns:p14="http://schemas.microsoft.com/office/powerpoint/2010/main" val="1992331455"/>
      </p:ext>
    </p:extLst>
  </p:cSld>
</p:sld>
</file>

<file path=ppt/slides/slide8.xml><?xml version="1.0" encoding="utf-8"?>
<p:sld xmlns:p="http://schemas.openxmlformats.org/presentationml/2006/main">
  <p:cSld>
    <p:bg>
      <p:bgPr>
        <a:solidFill xmlns:a="http://schemas.openxmlformats.org/drawingml/2006/main">
          <a:srgbClr val="1017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573145-A0F7-47DB-A711-A9B009561B0F}"/>
              </a:ext>
            </a:extLst>
          </p:cNvPr>
          <p:cNvSpPr>
            <a:spLocks xmlns:a="http://schemas.openxmlformats.org/drawingml/2006/main" noGrp="1"/>
          </p:cNvSpPr>
          <p:nvPr/>
        </p:nvSpPr>
        <p:spPr>
          <a:xfrm xmlns:a="http://schemas.openxmlformats.org/drawingml/2006/main">
            <a:off x="609600" y="428625"/>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6F8"/>
                </a:solidFill>
                <a:latin typeface="Arial"/>
                <a:ea typeface="Arial"/>
                <a:cs typeface="Arial"/>
              </a:defRPr>
            </a:pPr>
            <a:r>
              <a:rPr sz="3300" b="1">
                <a:solidFill>
                  <a:srgbClr val="F3F6F8"/>
                </a:solidFill>
                <a:latin typeface="Arial"/>
                <a:ea typeface="Arial"/>
                <a:cs typeface="Arial"/>
              </a:rPr>
              <a:t>The complete ten-seed demonstration</a:t>
            </a:r>
          </a:p>
        </p:txBody>
      </p:sp>
      <p:sp>
        <p:nvSpPr>
          <p:cNvPr id="2" name="">
            <a:extLst xmlns:a="http://schemas.openxmlformats.org/drawingml/2006/main">
              <a:ext uri="{FF2B5EF4-FFF2-40B4-BE49-F238E27FC236}">
                <a16:creationId xmlns:a16="http://schemas.microsoft.com/office/drawing/2014/main" id="{6055D186-ECB6-4135-B218-FD00FB22ADF0}"/>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4C1CB"/>
                </a:solidFill>
                <a:latin typeface="Arial"/>
                <a:ea typeface="Arial"/>
                <a:cs typeface="Arial"/>
              </a:defRPr>
            </a:pPr>
            <a:r>
              <a:rPr sz="1350" b="0">
                <a:solidFill>
                  <a:srgbClr val="B4C1CB"/>
                </a:solidFill>
                <a:latin typeface="Arial"/>
                <a:ea typeface="Arial"/>
                <a:cs typeface="Arial"/>
              </a:rPr>
              <a:t>08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7a3dcc132b24c61"/>
          <a:stretch xmlns:a="http://schemas.openxmlformats.org/drawingml/2006/main"/>
        </p:blipFill>
        <p:spPr>
          <a:xfrm xmlns:a="http://schemas.openxmlformats.org/drawingml/2006/main">
            <a:off x="609600" y="1562100"/>
            <a:ext cx="4572000" cy="4343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E21E77-4601-43EF-A46C-1038A2CEBEA0}"/>
              </a:ext>
            </a:extLst>
          </p:cNvPr>
          <p:cNvSpPr>
            <a:spLocks xmlns:a="http://schemas.openxmlformats.org/drawingml/2006/main" noGrp="1"/>
          </p:cNvSpPr>
          <p:nvPr/>
        </p:nvSpPr>
        <p:spPr>
          <a:xfrm xmlns:a="http://schemas.openxmlformats.org/drawingml/2006/main">
            <a:off x="5829300" y="1762125"/>
            <a:ext cx="561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FD45D"/>
                </a:solidFill>
                <a:latin typeface="Arial"/>
                <a:ea typeface="Arial"/>
                <a:cs typeface="Arial"/>
              </a:defRPr>
            </a:pPr>
            <a:r>
              <a:rPr sz="2775" b="1">
                <a:solidFill>
                  <a:srgbClr val="FFD45D"/>
                </a:solidFill>
                <a:latin typeface="Arial"/>
                <a:ea typeface="Arial"/>
                <a:cs typeface="Arial"/>
              </a:rPr>
              <a:t>2 minutes 37 seconds</a:t>
            </a:r>
          </a:p>
        </p:txBody>
      </p:sp>
      <p:sp>
        <p:nvSpPr>
          <p:cNvPr id="5" name="">
            <a:extLst xmlns:a="http://schemas.openxmlformats.org/drawingml/2006/main">
              <a:ext uri="{FF2B5EF4-FFF2-40B4-BE49-F238E27FC236}">
                <a16:creationId xmlns:a16="http://schemas.microsoft.com/office/drawing/2014/main" id="{DEB87082-83F1-4241-8C2E-2A53C51642BD}"/>
              </a:ext>
            </a:extLst>
          </p:cNvPr>
          <p:cNvSpPr>
            <a:spLocks xmlns:a="http://schemas.openxmlformats.org/drawingml/2006/main" noGrp="1"/>
          </p:cNvSpPr>
          <p:nvPr/>
        </p:nvSpPr>
        <p:spPr>
          <a:xfrm xmlns:a="http://schemas.openxmlformats.org/drawingml/2006/main">
            <a:off x="5829300" y="2647950"/>
            <a:ext cx="5619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3F6F8"/>
                </a:solidFill>
                <a:latin typeface="Arial"/>
                <a:ea typeface="Arial"/>
                <a:cs typeface="Arial"/>
              </a:defRPr>
            </a:pPr>
            <a:r>
              <a:rPr sz="2175" b="0">
                <a:solidFill>
                  <a:srgbClr val="F3F6F8"/>
                </a:solidFill>
                <a:latin typeface="Arial"/>
                <a:ea typeface="Arial"/>
                <a:cs typeface="Arial"/>
              </a:rPr>
              <a:t>All ten consecutive seeds</a:t>
            </a:r>
          </a:p>
          <a:p xmlns:a="http://schemas.openxmlformats.org/drawingml/2006/main">
            <a:pPr>
              <a:defRPr sz="2175" b="0">
                <a:solidFill>
                  <a:srgbClr val="F3F6F8"/>
                </a:solidFill>
                <a:latin typeface="Arial"/>
                <a:ea typeface="Arial"/>
                <a:cs typeface="Arial"/>
              </a:defRPr>
            </a:pPr>
            <a:r>
              <a:rPr sz="2175" b="0">
                <a:solidFill>
                  <a:srgbClr val="F3F6F8"/>
                </a:solidFill>
                <a:latin typeface="Arial"/>
                <a:ea typeface="Arial"/>
                <a:cs typeface="Arial"/>
              </a:rPr>
              <a:t>Every success and failure</a:t>
            </a:r>
          </a:p>
          <a:p xmlns:a="http://schemas.openxmlformats.org/drawingml/2006/main">
            <a:pPr>
              <a:defRPr sz="2175" b="0">
                <a:solidFill>
                  <a:srgbClr val="F3F6F8"/>
                </a:solidFill>
                <a:latin typeface="Arial"/>
                <a:ea typeface="Arial"/>
                <a:cs typeface="Arial"/>
              </a:defRPr>
            </a:pPr>
            <a:r>
              <a:rPr sz="2175" b="0">
                <a:solidFill>
                  <a:srgbClr val="F3F6F8"/>
                </a:solidFill>
                <a:latin typeface="Arial"/>
                <a:ea typeface="Arial"/>
                <a:cs typeface="Arial"/>
              </a:rPr>
              <a:t>Visible command and model identity</a:t>
            </a:r>
          </a:p>
        </p:txBody>
      </p:sp>
      <p:sp>
        <p:nvSpPr>
          <p:cNvPr id="6" name="">
            <a:extLst xmlns:a="http://schemas.openxmlformats.org/drawingml/2006/main">
              <a:ext uri="{FF2B5EF4-FFF2-40B4-BE49-F238E27FC236}">
                <a16:creationId xmlns:a16="http://schemas.microsoft.com/office/drawing/2014/main" id="{BC43DFCE-CAAB-4505-A347-6EAE7B50418C}"/>
              </a:ext>
            </a:extLst>
          </p:cNvPr>
          <p:cNvSpPr>
            <a:spLocks xmlns:a="http://schemas.openxmlformats.org/drawingml/2006/main" noGrp="1"/>
          </p:cNvSpPr>
          <p:nvPr/>
        </p:nvSpPr>
        <p:spPr>
          <a:xfrm xmlns:a="http://schemas.openxmlformats.org/drawingml/2006/main">
            <a:off x="5829300" y="4591050"/>
            <a:ext cx="561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5E0B8"/>
                </a:solidFill>
                <a:latin typeface="Arial"/>
                <a:ea typeface="Arial"/>
                <a:cs typeface="Arial"/>
              </a:defRPr>
            </a:pPr>
            <a:r>
              <a:rPr>
                <a:hlinkClick xmlns:r="http://schemas.openxmlformats.org/officeDocument/2006/relationships" r:id="R1800b2c090974f1f"/>
              </a:rPr>
              <a:t>Watch the recorded demonstration</a:t>
            </a:r>
          </a:p>
        </p:txBody>
      </p:sp>
      <p:sp>
        <p:nvSpPr>
          <p:cNvPr id="7" name="">
            <a:extLst xmlns:a="http://schemas.openxmlformats.org/drawingml/2006/main">
              <a:ext uri="{FF2B5EF4-FFF2-40B4-BE49-F238E27FC236}">
                <a16:creationId xmlns:a16="http://schemas.microsoft.com/office/drawing/2014/main" id="{1D9F9496-3481-4294-8E26-A202D84CCA80}"/>
              </a:ext>
            </a:extLst>
          </p:cNvPr>
          <p:cNvSpPr>
            <a:spLocks xmlns:a="http://schemas.openxmlformats.org/drawingml/2006/main" noGrp="1"/>
          </p:cNvSpPr>
          <p:nvPr/>
        </p:nvSpPr>
        <p:spPr>
          <a:xfrm xmlns:a="http://schemas.openxmlformats.org/drawingml/2006/main">
            <a:off x="5829300" y="5295900"/>
            <a:ext cx="561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5E0B8"/>
                </a:solidFill>
                <a:latin typeface="Arial"/>
                <a:ea typeface="Arial"/>
                <a:cs typeface="Arial"/>
              </a:defRPr>
            </a:pPr>
            <a:r>
              <a:rPr>
                <a:hlinkClick xmlns:r="http://schemas.openxmlformats.org/officeDocument/2006/relationships" r:id="R61a49bb62947425d"/>
              </a:rPr>
              <a:t>Open the source repository</a:t>
            </a:r>
          </a:p>
        </p:txBody>
      </p:sp>
    </p:spTree>
    <p:extLst>
      <p:ext uri="{BB962C8B-B14F-4D97-AF65-F5344CB8AC3E}">
        <p14:creationId xmlns:p14="http://schemas.microsoft.com/office/powerpoint/2010/main" val="324225885"/>
      </p:ext>
    </p:extLst>
  </p:cSld>
</p:sld>
</file>

<file path=ppt/slides/slide9.xml><?xml version="1.0" encoding="utf-8"?>
<p:sld xmlns:p="http://schemas.openxmlformats.org/presentationml/2006/main">
  <p:cSld>
    <p:bg>
      <p:bgPr>
        <a:solidFill xmlns:a="http://schemas.openxmlformats.org/drawingml/2006/main">
          <a:srgbClr val="1017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B769AA-456F-4229-89BF-C19551AE5749}"/>
              </a:ext>
            </a:extLst>
          </p:cNvPr>
          <p:cNvSpPr>
            <a:spLocks xmlns:a="http://schemas.openxmlformats.org/drawingml/2006/main" noGrp="1"/>
          </p:cNvSpPr>
          <p:nvPr/>
        </p:nvSpPr>
        <p:spPr>
          <a:xfrm xmlns:a="http://schemas.openxmlformats.org/drawingml/2006/main">
            <a:off x="609600" y="428625"/>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6F8"/>
                </a:solidFill>
                <a:latin typeface="Arial"/>
                <a:ea typeface="Arial"/>
                <a:cs typeface="Arial"/>
              </a:defRPr>
            </a:pPr>
            <a:r>
              <a:rPr sz="3300" b="1">
                <a:solidFill>
                  <a:srgbClr val="F3F6F8"/>
                </a:solidFill>
                <a:latin typeface="Arial"/>
                <a:ea typeface="Arial"/>
                <a:cs typeface="Arial"/>
              </a:rPr>
              <a:t>Next steps toward a qualifying submission</a:t>
            </a:r>
          </a:p>
        </p:txBody>
      </p:sp>
      <p:sp>
        <p:nvSpPr>
          <p:cNvPr id="2" name="">
            <a:extLst xmlns:a="http://schemas.openxmlformats.org/drawingml/2006/main">
              <a:ext uri="{FF2B5EF4-FFF2-40B4-BE49-F238E27FC236}">
                <a16:creationId xmlns:a16="http://schemas.microsoft.com/office/drawing/2014/main" id="{8F47D029-59C0-4DD8-8620-C4AAE4D04D61}"/>
              </a:ext>
            </a:extLst>
          </p:cNvPr>
          <p:cNvSpPr>
            <a:spLocks xmlns:a="http://schemas.openxmlformats.org/drawingml/2006/main" noGrp="1"/>
          </p:cNvSpPr>
          <p:nvPr/>
        </p:nvSpPr>
        <p:spPr>
          <a:xfrm xmlns:a="http://schemas.openxmlformats.org/drawingml/2006/main">
            <a:off x="11096625"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4C1CB"/>
                </a:solidFill>
                <a:latin typeface="Arial"/>
                <a:ea typeface="Arial"/>
                <a:cs typeface="Arial"/>
              </a:defRPr>
            </a:pPr>
            <a:r>
              <a:rPr sz="1350" b="0">
                <a:solidFill>
                  <a:srgbClr val="B4C1CB"/>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19429416-CACF-4CA4-8A59-C77427D8D2B9}"/>
              </a:ext>
            </a:extLst>
          </p:cNvPr>
          <p:cNvSpPr>
            <a:spLocks xmlns:a="http://schemas.openxmlformats.org/drawingml/2006/main" noGrp="1"/>
          </p:cNvSpPr>
          <p:nvPr/>
        </p:nvSpPr>
        <p:spPr>
          <a:xfrm xmlns:a="http://schemas.openxmlformats.org/drawingml/2006/main">
            <a:off x="609600" y="16478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D45D"/>
                </a:solidFill>
                <a:latin typeface="Arial"/>
                <a:ea typeface="Arial"/>
                <a:cs typeface="Arial"/>
              </a:defRPr>
            </a:pPr>
            <a:r>
              <a:rPr sz="2550" b="1">
                <a:solidFill>
                  <a:srgbClr val="FFD45D"/>
                </a:solidFill>
                <a:latin typeface="Arial"/>
                <a:ea typeface="Arial"/>
                <a:cs typeface="Arial"/>
              </a:rPr>
              <a:t>Improve contact reliability</a:t>
            </a:r>
          </a:p>
        </p:txBody>
      </p:sp>
      <p:sp>
        <p:nvSpPr>
          <p:cNvPr id="4" name="">
            <a:extLst xmlns:a="http://schemas.openxmlformats.org/drawingml/2006/main">
              <a:ext uri="{FF2B5EF4-FFF2-40B4-BE49-F238E27FC236}">
                <a16:creationId xmlns:a16="http://schemas.microsoft.com/office/drawing/2014/main" id="{B4DAA7F3-1195-4E7C-8610-2A3D85628EC6}"/>
              </a:ext>
            </a:extLst>
          </p:cNvPr>
          <p:cNvSpPr>
            <a:spLocks xmlns:a="http://schemas.openxmlformats.org/drawingml/2006/main" noGrp="1"/>
          </p:cNvSpPr>
          <p:nvPr/>
        </p:nvSpPr>
        <p:spPr>
          <a:xfrm xmlns:a="http://schemas.openxmlformats.org/drawingml/2006/main">
            <a:off x="609600" y="2247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3F6F8"/>
                </a:solidFill>
                <a:latin typeface="Arial"/>
                <a:ea typeface="Arial"/>
                <a:cs typeface="Arial"/>
              </a:defRPr>
            </a:pPr>
            <a:r>
              <a:rPr sz="2175" b="0">
                <a:solidFill>
                  <a:srgbClr val="F3F6F8"/>
                </a:solidFill>
                <a:latin typeface="Arial"/>
                <a:ea typeface="Arial"/>
                <a:cs typeface="Arial"/>
              </a:rPr>
              <a:t>Collect failure-recovery demonstrations and evaluate closed-loop correction.</a:t>
            </a:r>
          </a:p>
        </p:txBody>
      </p:sp>
      <p:sp>
        <p:nvSpPr>
          <p:cNvPr id="5" name="">
            <a:extLst xmlns:a="http://schemas.openxmlformats.org/drawingml/2006/main">
              <a:ext uri="{FF2B5EF4-FFF2-40B4-BE49-F238E27FC236}">
                <a16:creationId xmlns:a16="http://schemas.microsoft.com/office/drawing/2014/main" id="{7ED9512F-81B8-4E53-9CEE-CF9270046CDA}"/>
              </a:ext>
            </a:extLst>
          </p:cNvPr>
          <p:cNvSpPr>
            <a:spLocks xmlns:a="http://schemas.openxmlformats.org/drawingml/2006/main" noGrp="1"/>
          </p:cNvSpPr>
          <p:nvPr/>
        </p:nvSpPr>
        <p:spPr>
          <a:xfrm xmlns:a="http://schemas.openxmlformats.org/drawingml/2006/main">
            <a:off x="609600" y="32670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D45D"/>
                </a:solidFill>
                <a:latin typeface="Arial"/>
                <a:ea typeface="Arial"/>
                <a:cs typeface="Arial"/>
              </a:defRPr>
            </a:pPr>
            <a:r>
              <a:rPr sz="2550" b="1">
                <a:solidFill>
                  <a:srgbClr val="FFD45D"/>
                </a:solidFill>
                <a:latin typeface="Arial"/>
                <a:ea typeface="Arial"/>
                <a:cs typeface="Arial"/>
              </a:rPr>
              <a:t>Validate on Series 2 or Series 3</a:t>
            </a:r>
          </a:p>
        </p:txBody>
      </p:sp>
      <p:sp>
        <p:nvSpPr>
          <p:cNvPr id="6" name="">
            <a:extLst xmlns:a="http://schemas.openxmlformats.org/drawingml/2006/main">
              <a:ext uri="{FF2B5EF4-FFF2-40B4-BE49-F238E27FC236}">
                <a16:creationId xmlns:a16="http://schemas.microsoft.com/office/drawing/2014/main" id="{6062CD5E-78D9-47C2-9DE8-6AAA8E8C0CA5}"/>
              </a:ext>
            </a:extLst>
          </p:cNvPr>
          <p:cNvSpPr>
            <a:spLocks xmlns:a="http://schemas.openxmlformats.org/drawingml/2006/main" noGrp="1"/>
          </p:cNvSpPr>
          <p:nvPr/>
        </p:nvSpPr>
        <p:spPr>
          <a:xfrm xmlns:a="http://schemas.openxmlformats.org/drawingml/2006/main">
            <a:off x="609600" y="386715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3F6F8"/>
                </a:solidFill>
                <a:latin typeface="Arial"/>
                <a:ea typeface="Arial"/>
                <a:cs typeface="Arial"/>
              </a:defRPr>
            </a:pPr>
            <a:r>
              <a:rPr sz="2175" b="0">
                <a:solidFill>
                  <a:srgbClr val="F3F6F8"/>
                </a:solidFill>
                <a:latin typeface="Arial"/>
                <a:ea typeface="Arial"/>
                <a:cs typeface="Arial"/>
              </a:rPr>
              <a:t>Run simulation, record hardware identity, and benchmark the complete policy.</a:t>
            </a:r>
          </a:p>
        </p:txBody>
      </p:sp>
      <p:sp>
        <p:nvSpPr>
          <p:cNvPr id="7" name="">
            <a:extLst xmlns:a="http://schemas.openxmlformats.org/drawingml/2006/main">
              <a:ext uri="{FF2B5EF4-FFF2-40B4-BE49-F238E27FC236}">
                <a16:creationId xmlns:a16="http://schemas.microsoft.com/office/drawing/2014/main" id="{FC9ADD75-7102-42D3-8C9A-B854F31AF166}"/>
              </a:ext>
            </a:extLst>
          </p:cNvPr>
          <p:cNvSpPr>
            <a:spLocks xmlns:a="http://schemas.openxmlformats.org/drawingml/2006/main" noGrp="1"/>
          </p:cNvSpPr>
          <p:nvPr/>
        </p:nvSpPr>
        <p:spPr>
          <a:xfrm xmlns:a="http://schemas.openxmlformats.org/drawingml/2006/main">
            <a:off x="609600" y="52768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5E0B8"/>
                </a:solidFill>
                <a:latin typeface="Arial"/>
                <a:ea typeface="Arial"/>
                <a:cs typeface="Arial"/>
              </a:defRPr>
            </a:pPr>
            <a:r>
              <a:rPr>
                <a:hlinkClick xmlns:r="http://schemas.openxmlformats.org/officeDocument/2006/relationships" r:id="R7a2cec1484344e54"/>
              </a:rPr>
              <a:t>github.com/SoniaLong/table-together</a:t>
            </a:r>
          </a:p>
        </p:txBody>
      </p:sp>
      <p:sp>
        <p:nvSpPr>
          <p:cNvPr id="8" name="">
            <a:extLst xmlns:a="http://schemas.openxmlformats.org/drawingml/2006/main">
              <a:ext uri="{FF2B5EF4-FFF2-40B4-BE49-F238E27FC236}">
                <a16:creationId xmlns:a16="http://schemas.microsoft.com/office/drawing/2014/main" id="{01DDFAF9-0FE7-42B3-B8EE-A5E9C7D5DAB9}"/>
              </a:ext>
            </a:extLst>
          </p:cNvPr>
          <p:cNvSpPr>
            <a:spLocks xmlns:a="http://schemas.openxmlformats.org/drawingml/2006/main" noGrp="1"/>
          </p:cNvSpPr>
          <p:nvPr/>
        </p:nvSpPr>
        <p:spPr>
          <a:xfrm xmlns:a="http://schemas.openxmlformats.org/drawingml/2006/main">
            <a:off x="609600" y="59055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4C1CB"/>
                </a:solidFill>
                <a:latin typeface="Arial"/>
                <a:ea typeface="Arial"/>
                <a:cs typeface="Arial"/>
              </a:defRPr>
            </a:pPr>
            <a:r>
              <a:rPr sz="1800" b="0">
                <a:solidFill>
                  <a:srgbClr val="B4C1CB"/>
                </a:solidFill>
                <a:latin typeface="Arial"/>
                <a:ea typeface="Arial"/>
                <a:cs typeface="Arial"/>
              </a:rPr>
              <a:t>Source, training data, model weights and evaluation evidence are public.</a:t>
            </a:r>
          </a:p>
        </p:txBody>
      </p:sp>
    </p:spTree>
    <p:extLst>
      <p:ext uri="{BB962C8B-B14F-4D97-AF65-F5344CB8AC3E}">
        <p14:creationId xmlns:p14="http://schemas.microsoft.com/office/powerpoint/2010/main" val="14497306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2026-09-16T15:55:25.1900000Z</dcterms:created>
  <dcterms:modified xsi:type="dcterms:W3CDTF">2026-09-16T15:55:25.1900000Z</dcterms:modified>
</coreProperties>
</file>